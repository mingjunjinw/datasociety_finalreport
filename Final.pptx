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Quantico"/>
      <p:regular r:id="rId17"/>
      <p:bold r:id="rId18"/>
      <p:italic r:id="rId19"/>
      <p:boldItalic r:id="rId20"/>
    </p:embeddedFont>
    <p:embeddedFont>
      <p:font typeface="Bodoni Moda"/>
      <p:regular r:id="rId21"/>
      <p:bold r:id="rId22"/>
      <p:italic r:id="rId23"/>
      <p:boldItalic r:id="rId24"/>
    </p:embeddedFont>
    <p:embeddedFont>
      <p:font typeface="Roboto"/>
      <p:regular r:id="rId25"/>
      <p:bold r:id="rId26"/>
      <p:italic r:id="rId27"/>
      <p:boldItalic r:id="rId28"/>
    </p:embeddedFont>
    <p:embeddedFont>
      <p:font typeface="Bebas Neue"/>
      <p:regular r:id="rId29"/>
    </p:embeddedFont>
    <p:embeddedFont>
      <p:font typeface="Fira Sans Extra Condensed Medium"/>
      <p:regular r:id="rId30"/>
      <p:bold r:id="rId31"/>
      <p:italic r:id="rId32"/>
      <p:boldItalic r:id="rId33"/>
    </p:embeddedFont>
    <p:embeddedFont>
      <p:font typeface="Public Sans"/>
      <p:regular r:id="rId34"/>
      <p:bold r:id="rId35"/>
      <p:italic r:id="rId36"/>
      <p:boldItalic r:id="rId37"/>
    </p:embeddedFont>
    <p:embeddedFont>
      <p:font typeface="Bodoni Moda ExtraBold"/>
      <p:bold r:id="rId38"/>
      <p:boldItalic r:id="rId39"/>
    </p:embeddedFont>
    <p:embeddedFont>
      <p:font typeface="Fira Sans Extra Condensed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FiraSansExtraCondensed-regular.fntdata"/><Relationship Id="rId20" Type="http://schemas.openxmlformats.org/officeDocument/2006/relationships/font" Target="fonts/Quantico-boldItalic.fntdata"/><Relationship Id="rId42" Type="http://schemas.openxmlformats.org/officeDocument/2006/relationships/font" Target="fonts/FiraSansExtraCondensed-italic.fntdata"/><Relationship Id="rId41" Type="http://schemas.openxmlformats.org/officeDocument/2006/relationships/font" Target="fonts/FiraSansExtraCondensed-bold.fntdata"/><Relationship Id="rId22" Type="http://schemas.openxmlformats.org/officeDocument/2006/relationships/font" Target="fonts/BodoniModa-bold.fntdata"/><Relationship Id="rId21" Type="http://schemas.openxmlformats.org/officeDocument/2006/relationships/font" Target="fonts/BodoniModa-regular.fntdata"/><Relationship Id="rId43" Type="http://schemas.openxmlformats.org/officeDocument/2006/relationships/font" Target="fonts/FiraSansExtraCondensed-boldItalic.fntdata"/><Relationship Id="rId24" Type="http://schemas.openxmlformats.org/officeDocument/2006/relationships/font" Target="fonts/BodoniModa-boldItalic.fntdata"/><Relationship Id="rId23" Type="http://schemas.openxmlformats.org/officeDocument/2006/relationships/font" Target="fonts/BodoniModa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bold.fntdata"/><Relationship Id="rId25" Type="http://schemas.openxmlformats.org/officeDocument/2006/relationships/font" Target="fonts/Roboto-regular.fntdata"/><Relationship Id="rId28" Type="http://schemas.openxmlformats.org/officeDocument/2006/relationships/font" Target="fonts/Roboto-boldItalic.fntdata"/><Relationship Id="rId27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BebasNeue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FiraSansExtraCondensedMedium-bold.fntdata"/><Relationship Id="rId30" Type="http://schemas.openxmlformats.org/officeDocument/2006/relationships/font" Target="fonts/FiraSansExtraCondensedMedium-regular.fntdata"/><Relationship Id="rId11" Type="http://schemas.openxmlformats.org/officeDocument/2006/relationships/slide" Target="slides/slide6.xml"/><Relationship Id="rId33" Type="http://schemas.openxmlformats.org/officeDocument/2006/relationships/font" Target="fonts/FiraSansExtraCondensedMedium-boldItalic.fntdata"/><Relationship Id="rId10" Type="http://schemas.openxmlformats.org/officeDocument/2006/relationships/slide" Target="slides/slide5.xml"/><Relationship Id="rId32" Type="http://schemas.openxmlformats.org/officeDocument/2006/relationships/font" Target="fonts/FiraSansExtraCondensedMedium-italic.fntdata"/><Relationship Id="rId13" Type="http://schemas.openxmlformats.org/officeDocument/2006/relationships/slide" Target="slides/slide8.xml"/><Relationship Id="rId35" Type="http://schemas.openxmlformats.org/officeDocument/2006/relationships/font" Target="fonts/PublicSans-bold.fntdata"/><Relationship Id="rId12" Type="http://schemas.openxmlformats.org/officeDocument/2006/relationships/slide" Target="slides/slide7.xml"/><Relationship Id="rId34" Type="http://schemas.openxmlformats.org/officeDocument/2006/relationships/font" Target="fonts/PublicSans-regular.fntdata"/><Relationship Id="rId15" Type="http://schemas.openxmlformats.org/officeDocument/2006/relationships/slide" Target="slides/slide10.xml"/><Relationship Id="rId37" Type="http://schemas.openxmlformats.org/officeDocument/2006/relationships/font" Target="fonts/PublicSans-boldItalic.fntdata"/><Relationship Id="rId14" Type="http://schemas.openxmlformats.org/officeDocument/2006/relationships/slide" Target="slides/slide9.xml"/><Relationship Id="rId36" Type="http://schemas.openxmlformats.org/officeDocument/2006/relationships/font" Target="fonts/PublicSans-italic.fntdata"/><Relationship Id="rId17" Type="http://schemas.openxmlformats.org/officeDocument/2006/relationships/font" Target="fonts/Quantico-regular.fntdata"/><Relationship Id="rId39" Type="http://schemas.openxmlformats.org/officeDocument/2006/relationships/font" Target="fonts/BodoniModaExtraBold-boldItalic.fntdata"/><Relationship Id="rId16" Type="http://schemas.openxmlformats.org/officeDocument/2006/relationships/slide" Target="slides/slide11.xml"/><Relationship Id="rId38" Type="http://schemas.openxmlformats.org/officeDocument/2006/relationships/font" Target="fonts/BodoniModaExtraBold-bold.fntdata"/><Relationship Id="rId19" Type="http://schemas.openxmlformats.org/officeDocument/2006/relationships/font" Target="fonts/Quantico-italic.fntdata"/><Relationship Id="rId18" Type="http://schemas.openxmlformats.org/officeDocument/2006/relationships/font" Target="fonts/Quantic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a472f83fd6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a472f83fd6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a472f83fd6_0_3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a472f83fd6_0_3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a472f83fd6_0_3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a472f83fd6_0_3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a472f83fd6_0_4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a472f83fd6_0_4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a472f83fd6_0_4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a472f83fd6_0_4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a472f83fd6_0_4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a472f83fd6_0_4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a472f83fd6_0_4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a472f83fd6_0_4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a472f83fd6_0_4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a472f83fd6_0_4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a472f83fd6_0_4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a472f83fd6_0_4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a472f83fd6_0_4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a472f83fd6_0_4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a472f83fd6_0_4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a472f83fd6_0_4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tBDfr" TargetMode="Externa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261150" y="492150"/>
            <a:ext cx="8621700" cy="4159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" name="Google Shape;10;p2"/>
          <p:cNvGrpSpPr/>
          <p:nvPr/>
        </p:nvGrpSpPr>
        <p:grpSpPr>
          <a:xfrm>
            <a:off x="148" y="236375"/>
            <a:ext cx="9144441" cy="4670750"/>
            <a:chOff x="-35700" y="239525"/>
            <a:chExt cx="9215400" cy="4670750"/>
          </a:xfrm>
        </p:grpSpPr>
        <p:cxnSp>
          <p:nvCxnSpPr>
            <p:cNvPr id="11" name="Google Shape;11;p2"/>
            <p:cNvCxnSpPr/>
            <p:nvPr/>
          </p:nvCxnSpPr>
          <p:spPr>
            <a:xfrm>
              <a:off x="-35700" y="4910275"/>
              <a:ext cx="92154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" name="Google Shape;12;p2"/>
            <p:cNvCxnSpPr/>
            <p:nvPr/>
          </p:nvCxnSpPr>
          <p:spPr>
            <a:xfrm>
              <a:off x="-35700" y="239525"/>
              <a:ext cx="92154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3" name="Google Shape;13;p2"/>
          <p:cNvSpPr txBox="1"/>
          <p:nvPr>
            <p:ph type="ctrTitle"/>
          </p:nvPr>
        </p:nvSpPr>
        <p:spPr>
          <a:xfrm>
            <a:off x="1443300" y="1167955"/>
            <a:ext cx="6257400" cy="21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300"/>
              <a:buFont typeface="Bodoni Moda ExtraBold"/>
              <a:buNone/>
              <a:defRPr sz="4300">
                <a:latin typeface="Bodoni Moda ExtraBold"/>
                <a:ea typeface="Bodoni Moda ExtraBold"/>
                <a:cs typeface="Bodoni Moda ExtraBold"/>
                <a:sym typeface="Bodoni Moda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Bodoni Moda ExtraBold"/>
              <a:buNone/>
              <a:defRPr sz="5200">
                <a:solidFill>
                  <a:srgbClr val="191919"/>
                </a:solidFill>
                <a:latin typeface="Bodoni Moda ExtraBold"/>
                <a:ea typeface="Bodoni Moda ExtraBold"/>
                <a:cs typeface="Bodoni Moda ExtraBold"/>
                <a:sym typeface="Bodoni Moda Extra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Bodoni Moda ExtraBold"/>
              <a:buNone/>
              <a:defRPr sz="5200">
                <a:solidFill>
                  <a:srgbClr val="191919"/>
                </a:solidFill>
                <a:latin typeface="Bodoni Moda ExtraBold"/>
                <a:ea typeface="Bodoni Moda ExtraBold"/>
                <a:cs typeface="Bodoni Moda ExtraBold"/>
                <a:sym typeface="Bodoni Moda Extra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Bodoni Moda ExtraBold"/>
              <a:buNone/>
              <a:defRPr sz="5200">
                <a:solidFill>
                  <a:srgbClr val="191919"/>
                </a:solidFill>
                <a:latin typeface="Bodoni Moda ExtraBold"/>
                <a:ea typeface="Bodoni Moda ExtraBold"/>
                <a:cs typeface="Bodoni Moda ExtraBold"/>
                <a:sym typeface="Bodoni Moda Extra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Bodoni Moda ExtraBold"/>
              <a:buNone/>
              <a:defRPr sz="5200">
                <a:solidFill>
                  <a:srgbClr val="191919"/>
                </a:solidFill>
                <a:latin typeface="Bodoni Moda ExtraBold"/>
                <a:ea typeface="Bodoni Moda ExtraBold"/>
                <a:cs typeface="Bodoni Moda ExtraBold"/>
                <a:sym typeface="Bodoni Moda Extra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Bodoni Moda ExtraBold"/>
              <a:buNone/>
              <a:defRPr sz="5200">
                <a:solidFill>
                  <a:srgbClr val="191919"/>
                </a:solidFill>
                <a:latin typeface="Bodoni Moda ExtraBold"/>
                <a:ea typeface="Bodoni Moda ExtraBold"/>
                <a:cs typeface="Bodoni Moda ExtraBold"/>
                <a:sym typeface="Bodoni Moda Extra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Bodoni Moda ExtraBold"/>
              <a:buNone/>
              <a:defRPr sz="5200">
                <a:solidFill>
                  <a:srgbClr val="191919"/>
                </a:solidFill>
                <a:latin typeface="Bodoni Moda ExtraBold"/>
                <a:ea typeface="Bodoni Moda ExtraBold"/>
                <a:cs typeface="Bodoni Moda ExtraBold"/>
                <a:sym typeface="Bodoni Moda Extra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Bodoni Moda ExtraBold"/>
              <a:buNone/>
              <a:defRPr sz="5200">
                <a:solidFill>
                  <a:srgbClr val="191919"/>
                </a:solidFill>
                <a:latin typeface="Bodoni Moda ExtraBold"/>
                <a:ea typeface="Bodoni Moda ExtraBold"/>
                <a:cs typeface="Bodoni Moda ExtraBold"/>
                <a:sym typeface="Bodoni Moda Extra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Bodoni Moda ExtraBold"/>
              <a:buNone/>
              <a:defRPr sz="5200">
                <a:solidFill>
                  <a:srgbClr val="191919"/>
                </a:solidFill>
                <a:latin typeface="Bodoni Moda ExtraBold"/>
                <a:ea typeface="Bodoni Moda ExtraBold"/>
                <a:cs typeface="Bodoni Moda ExtraBold"/>
                <a:sym typeface="Bodoni Moda ExtraBold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493750" y="3457955"/>
            <a:ext cx="41565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15" name="Google Shape;15;p2"/>
          <p:cNvGrpSpPr/>
          <p:nvPr/>
        </p:nvGrpSpPr>
        <p:grpSpPr>
          <a:xfrm>
            <a:off x="-35550" y="239525"/>
            <a:ext cx="9215400" cy="4670750"/>
            <a:chOff x="-35700" y="239525"/>
            <a:chExt cx="9215400" cy="467075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-35700" y="4910275"/>
              <a:ext cx="9215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-35700" y="239525"/>
              <a:ext cx="9215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/>
          <p:nvPr/>
        </p:nvSpPr>
        <p:spPr>
          <a:xfrm>
            <a:off x="261150" y="492150"/>
            <a:ext cx="8621700" cy="4159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" name="Google Shape;20;p3"/>
          <p:cNvGrpSpPr/>
          <p:nvPr/>
        </p:nvGrpSpPr>
        <p:grpSpPr>
          <a:xfrm>
            <a:off x="-35550" y="239525"/>
            <a:ext cx="9215400" cy="4670750"/>
            <a:chOff x="-35700" y="239525"/>
            <a:chExt cx="9215400" cy="4670750"/>
          </a:xfrm>
        </p:grpSpPr>
        <p:cxnSp>
          <p:nvCxnSpPr>
            <p:cNvPr id="21" name="Google Shape;21;p3"/>
            <p:cNvCxnSpPr/>
            <p:nvPr/>
          </p:nvCxnSpPr>
          <p:spPr>
            <a:xfrm>
              <a:off x="-35700" y="4910275"/>
              <a:ext cx="9215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" name="Google Shape;22;p3"/>
            <p:cNvCxnSpPr/>
            <p:nvPr/>
          </p:nvCxnSpPr>
          <p:spPr>
            <a:xfrm>
              <a:off x="-35700" y="239525"/>
              <a:ext cx="9215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3" name="Google Shape;23;p3"/>
          <p:cNvSpPr txBox="1"/>
          <p:nvPr>
            <p:ph type="title"/>
          </p:nvPr>
        </p:nvSpPr>
        <p:spPr>
          <a:xfrm>
            <a:off x="1034175" y="2231025"/>
            <a:ext cx="70755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-"/>
              <a:defRPr b="1" sz="4800">
                <a:latin typeface="Bodoni Moda"/>
                <a:ea typeface="Bodoni Moda"/>
                <a:cs typeface="Bodoni Moda"/>
                <a:sym typeface="Bodoni Mod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-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-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-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-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-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-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-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-"/>
              <a:defRPr sz="3600"/>
            </a:lvl9pPr>
          </a:lstStyle>
          <a:p/>
        </p:txBody>
      </p:sp>
      <p:sp>
        <p:nvSpPr>
          <p:cNvPr id="24" name="Google Shape;24;p3"/>
          <p:cNvSpPr txBox="1"/>
          <p:nvPr>
            <p:ph hasCustomPrompt="1" idx="2" type="title"/>
          </p:nvPr>
        </p:nvSpPr>
        <p:spPr>
          <a:xfrm>
            <a:off x="3884275" y="1136726"/>
            <a:ext cx="1375500" cy="104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i="1" sz="7200">
                <a:latin typeface="Bodoni Moda"/>
                <a:ea typeface="Bodoni Moda"/>
                <a:cs typeface="Bodoni Moda"/>
                <a:sym typeface="Bodoni Mod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5" name="Google Shape;25;p3"/>
          <p:cNvSpPr txBox="1"/>
          <p:nvPr>
            <p:ph idx="1" type="subTitle"/>
          </p:nvPr>
        </p:nvSpPr>
        <p:spPr>
          <a:xfrm>
            <a:off x="1034216" y="3468448"/>
            <a:ext cx="7075500" cy="44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261150" y="239525"/>
            <a:ext cx="8621700" cy="4664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720000" y="1034165"/>
            <a:ext cx="7704000" cy="5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type="title"/>
          </p:nvPr>
        </p:nvSpPr>
        <p:spPr>
          <a:xfrm>
            <a:off x="720000" y="448100"/>
            <a:ext cx="7704000" cy="54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b="1" sz="3200">
                <a:latin typeface="Bodoni Moda"/>
                <a:ea typeface="Bodoni Moda"/>
                <a:cs typeface="Bodoni Moda"/>
                <a:sym typeface="Bodoni Mod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/>
          <p:nvPr/>
        </p:nvSpPr>
        <p:spPr>
          <a:xfrm>
            <a:off x="261150" y="239525"/>
            <a:ext cx="8621700" cy="4664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5"/>
          <p:cNvSpPr txBox="1"/>
          <p:nvPr>
            <p:ph idx="1" type="subTitle"/>
          </p:nvPr>
        </p:nvSpPr>
        <p:spPr>
          <a:xfrm>
            <a:off x="2823047" y="2027975"/>
            <a:ext cx="1482600" cy="7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b="1" i="1" sz="2100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2" type="subTitle"/>
          </p:nvPr>
        </p:nvSpPr>
        <p:spPr>
          <a:xfrm>
            <a:off x="6941321" y="2027975"/>
            <a:ext cx="1482600" cy="7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b="1" i="1" sz="2100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3" type="subTitle"/>
          </p:nvPr>
        </p:nvSpPr>
        <p:spPr>
          <a:xfrm>
            <a:off x="2823025" y="2839575"/>
            <a:ext cx="1482600" cy="80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4" type="subTitle"/>
          </p:nvPr>
        </p:nvSpPr>
        <p:spPr>
          <a:xfrm>
            <a:off x="6941300" y="2839575"/>
            <a:ext cx="1482600" cy="80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type="title"/>
          </p:nvPr>
        </p:nvSpPr>
        <p:spPr>
          <a:xfrm>
            <a:off x="720000" y="450575"/>
            <a:ext cx="7704000" cy="54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b="1" sz="3200">
                <a:latin typeface="Bodoni Moda"/>
                <a:ea typeface="Bodoni Moda"/>
                <a:cs typeface="Bodoni Moda"/>
                <a:sym typeface="Bodoni Mod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/>
          <p:nvPr/>
        </p:nvSpPr>
        <p:spPr>
          <a:xfrm>
            <a:off x="261150" y="239525"/>
            <a:ext cx="8621700" cy="4664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6"/>
          <p:cNvSpPr txBox="1"/>
          <p:nvPr>
            <p:ph type="title"/>
          </p:nvPr>
        </p:nvSpPr>
        <p:spPr>
          <a:xfrm>
            <a:off x="720000" y="450575"/>
            <a:ext cx="7704000" cy="54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b="1" sz="3200">
                <a:latin typeface="Bodoni Moda"/>
                <a:ea typeface="Bodoni Moda"/>
                <a:cs typeface="Bodoni Moda"/>
                <a:sym typeface="Bodoni Mod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/>
          <p:nvPr/>
        </p:nvSpPr>
        <p:spPr>
          <a:xfrm>
            <a:off x="261150" y="239525"/>
            <a:ext cx="8621700" cy="4664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720000" y="2016750"/>
            <a:ext cx="4413900" cy="18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type="title"/>
          </p:nvPr>
        </p:nvSpPr>
        <p:spPr>
          <a:xfrm>
            <a:off x="720000" y="450011"/>
            <a:ext cx="3396000" cy="107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b="1" sz="3200">
                <a:latin typeface="Bodoni Moda"/>
                <a:ea typeface="Bodoni Moda"/>
                <a:cs typeface="Bodoni Moda"/>
                <a:sym typeface="Bodoni Mod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/>
          <p:nvPr/>
        </p:nvSpPr>
        <p:spPr>
          <a:xfrm>
            <a:off x="261150" y="492150"/>
            <a:ext cx="8621700" cy="4159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" name="Google Shape;46;p8"/>
          <p:cNvGrpSpPr/>
          <p:nvPr/>
        </p:nvGrpSpPr>
        <p:grpSpPr>
          <a:xfrm>
            <a:off x="-35550" y="239525"/>
            <a:ext cx="9215400" cy="4670750"/>
            <a:chOff x="-35700" y="239525"/>
            <a:chExt cx="9215400" cy="4670750"/>
          </a:xfrm>
        </p:grpSpPr>
        <p:cxnSp>
          <p:nvCxnSpPr>
            <p:cNvPr id="47" name="Google Shape;47;p8"/>
            <p:cNvCxnSpPr/>
            <p:nvPr/>
          </p:nvCxnSpPr>
          <p:spPr>
            <a:xfrm>
              <a:off x="-35700" y="4910275"/>
              <a:ext cx="9215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" name="Google Shape;48;p8"/>
            <p:cNvCxnSpPr/>
            <p:nvPr/>
          </p:nvCxnSpPr>
          <p:spPr>
            <a:xfrm>
              <a:off x="-35700" y="239525"/>
              <a:ext cx="9215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9" name="Google Shape;49;p8"/>
          <p:cNvSpPr txBox="1"/>
          <p:nvPr>
            <p:ph type="title"/>
          </p:nvPr>
        </p:nvSpPr>
        <p:spPr>
          <a:xfrm>
            <a:off x="719900" y="1053600"/>
            <a:ext cx="7704000" cy="231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9000">
                <a:latin typeface="Bodoni Moda"/>
                <a:ea typeface="Bodoni Moda"/>
                <a:cs typeface="Bodoni Moda"/>
                <a:sym typeface="Bodoni Mod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/>
          <p:nvPr/>
        </p:nvSpPr>
        <p:spPr>
          <a:xfrm>
            <a:off x="261150" y="492150"/>
            <a:ext cx="8621700" cy="4159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2" name="Google Shape;52;p9"/>
          <p:cNvGrpSpPr/>
          <p:nvPr/>
        </p:nvGrpSpPr>
        <p:grpSpPr>
          <a:xfrm>
            <a:off x="-35550" y="239525"/>
            <a:ext cx="9215400" cy="4670750"/>
            <a:chOff x="-35700" y="239525"/>
            <a:chExt cx="9215400" cy="4670750"/>
          </a:xfrm>
        </p:grpSpPr>
        <p:cxnSp>
          <p:nvCxnSpPr>
            <p:cNvPr id="53" name="Google Shape;53;p9"/>
            <p:cNvCxnSpPr/>
            <p:nvPr/>
          </p:nvCxnSpPr>
          <p:spPr>
            <a:xfrm>
              <a:off x="-35700" y="4910275"/>
              <a:ext cx="9215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" name="Google Shape;54;p9"/>
            <p:cNvCxnSpPr/>
            <p:nvPr/>
          </p:nvCxnSpPr>
          <p:spPr>
            <a:xfrm>
              <a:off x="-35700" y="239525"/>
              <a:ext cx="9215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5" name="Google Shape;55;p9"/>
          <p:cNvSpPr txBox="1"/>
          <p:nvPr>
            <p:ph type="title"/>
          </p:nvPr>
        </p:nvSpPr>
        <p:spPr>
          <a:xfrm>
            <a:off x="478950" y="1409525"/>
            <a:ext cx="81861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b="1" sz="4500">
                <a:latin typeface="Bodoni Moda"/>
                <a:ea typeface="Bodoni Moda"/>
                <a:cs typeface="Bodoni Moda"/>
                <a:sym typeface="Bodoni Mod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6" name="Google Shape;56;p9"/>
          <p:cNvSpPr txBox="1"/>
          <p:nvPr>
            <p:ph idx="1" type="subTitle"/>
          </p:nvPr>
        </p:nvSpPr>
        <p:spPr>
          <a:xfrm>
            <a:off x="2062200" y="2543263"/>
            <a:ext cx="5019900" cy="119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/>
          <p:nvPr>
            <p:ph type="title"/>
          </p:nvPr>
        </p:nvSpPr>
        <p:spPr>
          <a:xfrm>
            <a:off x="720000" y="448100"/>
            <a:ext cx="4070400" cy="108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b="1" sz="3200">
                <a:latin typeface="Bodoni Moda"/>
                <a:ea typeface="Bodoni Moda"/>
                <a:cs typeface="Bodoni Moda"/>
                <a:sym typeface="Bodoni Mod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59" name="Google Shape;59;p10"/>
          <p:cNvSpPr/>
          <p:nvPr/>
        </p:nvSpPr>
        <p:spPr>
          <a:xfrm>
            <a:off x="0" y="125"/>
            <a:ext cx="9144000" cy="5170800"/>
          </a:xfrm>
          <a:prstGeom prst="frame">
            <a:avLst>
              <a:gd fmla="val 5132" name="adj1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/>
          <p:nvPr/>
        </p:nvSpPr>
        <p:spPr>
          <a:xfrm>
            <a:off x="261150" y="492150"/>
            <a:ext cx="8621700" cy="4159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2" name="Google Shape;62;p11"/>
          <p:cNvGrpSpPr/>
          <p:nvPr/>
        </p:nvGrpSpPr>
        <p:grpSpPr>
          <a:xfrm>
            <a:off x="-35550" y="239525"/>
            <a:ext cx="9215400" cy="4670750"/>
            <a:chOff x="-35700" y="239525"/>
            <a:chExt cx="9215400" cy="4670750"/>
          </a:xfrm>
        </p:grpSpPr>
        <p:cxnSp>
          <p:nvCxnSpPr>
            <p:cNvPr id="63" name="Google Shape;63;p11"/>
            <p:cNvCxnSpPr/>
            <p:nvPr/>
          </p:nvCxnSpPr>
          <p:spPr>
            <a:xfrm>
              <a:off x="-35700" y="4910275"/>
              <a:ext cx="9215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" name="Google Shape;64;p11"/>
            <p:cNvCxnSpPr/>
            <p:nvPr/>
          </p:nvCxnSpPr>
          <p:spPr>
            <a:xfrm>
              <a:off x="-35700" y="239525"/>
              <a:ext cx="9215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5" name="Google Shape;65;p11"/>
          <p:cNvSpPr txBox="1"/>
          <p:nvPr>
            <p:ph hasCustomPrompt="1" type="title"/>
          </p:nvPr>
        </p:nvSpPr>
        <p:spPr>
          <a:xfrm>
            <a:off x="1895625" y="1558475"/>
            <a:ext cx="5352900" cy="134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b="1" i="1" sz="8200">
                <a:latin typeface="Bodoni Moda"/>
                <a:ea typeface="Bodoni Moda"/>
                <a:cs typeface="Bodoni Moda"/>
                <a:sym typeface="Bodoni Mod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66" name="Google Shape;66;p11"/>
          <p:cNvSpPr txBox="1"/>
          <p:nvPr>
            <p:ph idx="1" type="subTitle"/>
          </p:nvPr>
        </p:nvSpPr>
        <p:spPr>
          <a:xfrm>
            <a:off x="1895625" y="3105700"/>
            <a:ext cx="5352900" cy="3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3"/>
          <p:cNvSpPr/>
          <p:nvPr/>
        </p:nvSpPr>
        <p:spPr>
          <a:xfrm>
            <a:off x="261150" y="239525"/>
            <a:ext cx="8621700" cy="4664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3"/>
          <p:cNvSpPr txBox="1"/>
          <p:nvPr>
            <p:ph type="title"/>
          </p:nvPr>
        </p:nvSpPr>
        <p:spPr>
          <a:xfrm flipH="1">
            <a:off x="1607300" y="1324624"/>
            <a:ext cx="26340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b="1" i="1" sz="2100">
                <a:latin typeface="Bodoni Moda"/>
                <a:ea typeface="Bodoni Moda"/>
                <a:cs typeface="Bodoni Moda"/>
                <a:sym typeface="Bodoni Mod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2" name="Google Shape;72;p13"/>
          <p:cNvSpPr txBox="1"/>
          <p:nvPr>
            <p:ph hasCustomPrompt="1" idx="2" type="title"/>
          </p:nvPr>
        </p:nvSpPr>
        <p:spPr>
          <a:xfrm flipH="1">
            <a:off x="719901" y="1570916"/>
            <a:ext cx="804000" cy="5151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i="1" sz="3600">
                <a:latin typeface="Bodoni Moda"/>
                <a:ea typeface="Bodoni Moda"/>
                <a:cs typeface="Bodoni Moda"/>
                <a:sym typeface="Bodoni Mod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3" name="Google Shape;73;p13"/>
          <p:cNvSpPr txBox="1"/>
          <p:nvPr>
            <p:ph idx="1" type="subTitle"/>
          </p:nvPr>
        </p:nvSpPr>
        <p:spPr>
          <a:xfrm flipH="1">
            <a:off x="1607298" y="1720614"/>
            <a:ext cx="2456700" cy="60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3"/>
          <p:cNvSpPr txBox="1"/>
          <p:nvPr>
            <p:ph idx="3" type="title"/>
          </p:nvPr>
        </p:nvSpPr>
        <p:spPr>
          <a:xfrm>
            <a:off x="5719300" y="1324624"/>
            <a:ext cx="26340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b="1" i="1" sz="2100">
                <a:latin typeface="Bodoni Moda"/>
                <a:ea typeface="Bodoni Moda"/>
                <a:cs typeface="Bodoni Moda"/>
                <a:sym typeface="Bodoni Mod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3"/>
          <p:cNvSpPr txBox="1"/>
          <p:nvPr>
            <p:ph hasCustomPrompt="1" idx="4" type="title"/>
          </p:nvPr>
        </p:nvSpPr>
        <p:spPr>
          <a:xfrm>
            <a:off x="4785326" y="1570941"/>
            <a:ext cx="835800" cy="5151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i="1" sz="3600">
                <a:latin typeface="Bodoni Moda"/>
                <a:ea typeface="Bodoni Moda"/>
                <a:cs typeface="Bodoni Moda"/>
                <a:sym typeface="Bodoni Mod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6" name="Google Shape;76;p13"/>
          <p:cNvSpPr txBox="1"/>
          <p:nvPr>
            <p:ph idx="5" type="subTitle"/>
          </p:nvPr>
        </p:nvSpPr>
        <p:spPr>
          <a:xfrm>
            <a:off x="5719299" y="1720614"/>
            <a:ext cx="2456700" cy="60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6" type="title"/>
          </p:nvPr>
        </p:nvSpPr>
        <p:spPr>
          <a:xfrm flipH="1">
            <a:off x="1607300" y="2428724"/>
            <a:ext cx="26340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b="1" i="1" sz="2100">
                <a:latin typeface="Bodoni Moda"/>
                <a:ea typeface="Bodoni Moda"/>
                <a:cs typeface="Bodoni Moda"/>
                <a:sym typeface="Bodoni Mod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8" name="Google Shape;78;p13"/>
          <p:cNvSpPr txBox="1"/>
          <p:nvPr>
            <p:ph hasCustomPrompt="1" idx="7" type="title"/>
          </p:nvPr>
        </p:nvSpPr>
        <p:spPr>
          <a:xfrm flipH="1">
            <a:off x="719901" y="2674966"/>
            <a:ext cx="804000" cy="5151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i="1" sz="3600">
                <a:latin typeface="Bodoni Moda"/>
                <a:ea typeface="Bodoni Moda"/>
                <a:cs typeface="Bodoni Moda"/>
                <a:sym typeface="Bodoni Mod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9" name="Google Shape;79;p13"/>
          <p:cNvSpPr txBox="1"/>
          <p:nvPr>
            <p:ph idx="8" type="subTitle"/>
          </p:nvPr>
        </p:nvSpPr>
        <p:spPr>
          <a:xfrm flipH="1">
            <a:off x="1607298" y="2824714"/>
            <a:ext cx="2456700" cy="60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3"/>
          <p:cNvSpPr txBox="1"/>
          <p:nvPr>
            <p:ph idx="9" type="title"/>
          </p:nvPr>
        </p:nvSpPr>
        <p:spPr>
          <a:xfrm>
            <a:off x="5719300" y="2428724"/>
            <a:ext cx="26340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b="1" i="1" sz="2100">
                <a:latin typeface="Bodoni Moda"/>
                <a:ea typeface="Bodoni Moda"/>
                <a:cs typeface="Bodoni Moda"/>
                <a:sym typeface="Bodoni Mod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1" name="Google Shape;81;p13"/>
          <p:cNvSpPr txBox="1"/>
          <p:nvPr>
            <p:ph hasCustomPrompt="1" idx="13" type="title"/>
          </p:nvPr>
        </p:nvSpPr>
        <p:spPr>
          <a:xfrm>
            <a:off x="4785326" y="2674991"/>
            <a:ext cx="835800" cy="5151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i="1" sz="3600">
                <a:latin typeface="Bodoni Moda"/>
                <a:ea typeface="Bodoni Moda"/>
                <a:cs typeface="Bodoni Moda"/>
                <a:sym typeface="Bodoni Mod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2" name="Google Shape;82;p13"/>
          <p:cNvSpPr txBox="1"/>
          <p:nvPr>
            <p:ph idx="14" type="subTitle"/>
          </p:nvPr>
        </p:nvSpPr>
        <p:spPr>
          <a:xfrm>
            <a:off x="5719299" y="2824714"/>
            <a:ext cx="2456700" cy="60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5" type="title"/>
          </p:nvPr>
        </p:nvSpPr>
        <p:spPr>
          <a:xfrm>
            <a:off x="720000" y="448100"/>
            <a:ext cx="7704000" cy="54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b="1" sz="3200">
                <a:latin typeface="Bodoni Moda"/>
                <a:ea typeface="Bodoni Moda"/>
                <a:cs typeface="Bodoni Moda"/>
                <a:sym typeface="Bodoni Mod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16" type="title"/>
          </p:nvPr>
        </p:nvSpPr>
        <p:spPr>
          <a:xfrm flipH="1">
            <a:off x="1607300" y="3532824"/>
            <a:ext cx="26340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b="1" i="1" sz="2100">
                <a:latin typeface="Bodoni Moda"/>
                <a:ea typeface="Bodoni Moda"/>
                <a:cs typeface="Bodoni Moda"/>
                <a:sym typeface="Bodoni Mod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5" name="Google Shape;85;p13"/>
          <p:cNvSpPr txBox="1"/>
          <p:nvPr>
            <p:ph hasCustomPrompt="1" idx="17" type="title"/>
          </p:nvPr>
        </p:nvSpPr>
        <p:spPr>
          <a:xfrm flipH="1">
            <a:off x="719901" y="3779041"/>
            <a:ext cx="804000" cy="5151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i="1" sz="3600">
                <a:latin typeface="Bodoni Moda"/>
                <a:ea typeface="Bodoni Moda"/>
                <a:cs typeface="Bodoni Moda"/>
                <a:sym typeface="Bodoni Mod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/>
          <p:nvPr>
            <p:ph idx="18" type="subTitle"/>
          </p:nvPr>
        </p:nvSpPr>
        <p:spPr>
          <a:xfrm flipH="1">
            <a:off x="1607298" y="3928764"/>
            <a:ext cx="2456700" cy="60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3"/>
          <p:cNvSpPr txBox="1"/>
          <p:nvPr>
            <p:ph idx="19" type="title"/>
          </p:nvPr>
        </p:nvSpPr>
        <p:spPr>
          <a:xfrm>
            <a:off x="5719300" y="3532824"/>
            <a:ext cx="26340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b="1" i="1" sz="2100">
                <a:latin typeface="Bodoni Moda"/>
                <a:ea typeface="Bodoni Moda"/>
                <a:cs typeface="Bodoni Moda"/>
                <a:sym typeface="Bodoni Mod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8" name="Google Shape;88;p13"/>
          <p:cNvSpPr txBox="1"/>
          <p:nvPr>
            <p:ph hasCustomPrompt="1" idx="20" type="title"/>
          </p:nvPr>
        </p:nvSpPr>
        <p:spPr>
          <a:xfrm>
            <a:off x="4785326" y="3779066"/>
            <a:ext cx="835800" cy="5151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i="1" sz="3600">
                <a:latin typeface="Bodoni Moda"/>
                <a:ea typeface="Bodoni Moda"/>
                <a:cs typeface="Bodoni Moda"/>
                <a:sym typeface="Bodoni Mod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9" name="Google Shape;89;p13"/>
          <p:cNvSpPr txBox="1"/>
          <p:nvPr>
            <p:ph idx="21" type="subTitle"/>
          </p:nvPr>
        </p:nvSpPr>
        <p:spPr>
          <a:xfrm>
            <a:off x="5719299" y="3928764"/>
            <a:ext cx="2456700" cy="60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/>
          <p:nvPr/>
        </p:nvSpPr>
        <p:spPr>
          <a:xfrm>
            <a:off x="261150" y="492150"/>
            <a:ext cx="8621700" cy="4159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2" name="Google Shape;92;p14"/>
          <p:cNvGrpSpPr/>
          <p:nvPr/>
        </p:nvGrpSpPr>
        <p:grpSpPr>
          <a:xfrm>
            <a:off x="-35550" y="239525"/>
            <a:ext cx="9215400" cy="4670750"/>
            <a:chOff x="-35700" y="239525"/>
            <a:chExt cx="9215400" cy="4670750"/>
          </a:xfrm>
        </p:grpSpPr>
        <p:cxnSp>
          <p:nvCxnSpPr>
            <p:cNvPr id="93" name="Google Shape;93;p14"/>
            <p:cNvCxnSpPr/>
            <p:nvPr/>
          </p:nvCxnSpPr>
          <p:spPr>
            <a:xfrm>
              <a:off x="-35700" y="4910275"/>
              <a:ext cx="9215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4" name="Google Shape;94;p14"/>
            <p:cNvCxnSpPr/>
            <p:nvPr/>
          </p:nvCxnSpPr>
          <p:spPr>
            <a:xfrm>
              <a:off x="-35700" y="239525"/>
              <a:ext cx="9215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95" name="Google Shape;95;p14"/>
          <p:cNvSpPr txBox="1"/>
          <p:nvPr>
            <p:ph type="title"/>
          </p:nvPr>
        </p:nvSpPr>
        <p:spPr>
          <a:xfrm>
            <a:off x="718575" y="3506175"/>
            <a:ext cx="3500700" cy="5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1" i="1" sz="2100">
                <a:latin typeface="Bodoni Moda"/>
                <a:ea typeface="Bodoni Moda"/>
                <a:cs typeface="Bodoni Moda"/>
                <a:sym typeface="Bodoni Mod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96" name="Google Shape;96;p14"/>
          <p:cNvSpPr txBox="1"/>
          <p:nvPr>
            <p:ph idx="1" type="subTitle"/>
          </p:nvPr>
        </p:nvSpPr>
        <p:spPr>
          <a:xfrm>
            <a:off x="718575" y="1111725"/>
            <a:ext cx="5572200" cy="202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BLANK_1_1_1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/>
          <p:nvPr/>
        </p:nvSpPr>
        <p:spPr>
          <a:xfrm>
            <a:off x="261150" y="239525"/>
            <a:ext cx="8621700" cy="4664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5"/>
          <p:cNvSpPr txBox="1"/>
          <p:nvPr>
            <p:ph idx="1" type="subTitle"/>
          </p:nvPr>
        </p:nvSpPr>
        <p:spPr>
          <a:xfrm>
            <a:off x="720000" y="2589964"/>
            <a:ext cx="3038400" cy="119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5"/>
          <p:cNvSpPr txBox="1"/>
          <p:nvPr>
            <p:ph type="title"/>
          </p:nvPr>
        </p:nvSpPr>
        <p:spPr>
          <a:xfrm>
            <a:off x="720000" y="1359825"/>
            <a:ext cx="3038400" cy="114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b="1" sz="3200">
                <a:latin typeface="Bodoni Moda"/>
                <a:ea typeface="Bodoni Moda"/>
                <a:cs typeface="Bodoni Moda"/>
                <a:sym typeface="Bodoni Mod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BLANK_1_1_1_2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/>
          <p:nvPr/>
        </p:nvSpPr>
        <p:spPr>
          <a:xfrm>
            <a:off x="261150" y="239525"/>
            <a:ext cx="8621700" cy="4664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6"/>
          <p:cNvSpPr txBox="1"/>
          <p:nvPr>
            <p:ph idx="1" type="body"/>
          </p:nvPr>
        </p:nvSpPr>
        <p:spPr>
          <a:xfrm>
            <a:off x="720000" y="1331175"/>
            <a:ext cx="7704000" cy="300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100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4" name="Google Shape;104;p16"/>
          <p:cNvSpPr txBox="1"/>
          <p:nvPr>
            <p:ph type="title"/>
          </p:nvPr>
        </p:nvSpPr>
        <p:spPr>
          <a:xfrm>
            <a:off x="720000" y="448100"/>
            <a:ext cx="7704000" cy="54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b="1" sz="3200">
                <a:latin typeface="Bodoni Moda"/>
                <a:ea typeface="Bodoni Moda"/>
                <a:cs typeface="Bodoni Moda"/>
                <a:sym typeface="Bodoni Mod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BLANK_1_1_1_2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/>
          <p:nvPr/>
        </p:nvSpPr>
        <p:spPr>
          <a:xfrm>
            <a:off x="261150" y="239525"/>
            <a:ext cx="8621700" cy="4664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7"/>
          <p:cNvSpPr/>
          <p:nvPr>
            <p:ph idx="2" type="pic"/>
          </p:nvPr>
        </p:nvSpPr>
        <p:spPr>
          <a:xfrm>
            <a:off x="5464975" y="1486500"/>
            <a:ext cx="2958900" cy="2763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17"/>
          <p:cNvSpPr txBox="1"/>
          <p:nvPr>
            <p:ph idx="1" type="body"/>
          </p:nvPr>
        </p:nvSpPr>
        <p:spPr>
          <a:xfrm>
            <a:off x="720000" y="2016750"/>
            <a:ext cx="4413900" cy="18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17"/>
          <p:cNvSpPr txBox="1"/>
          <p:nvPr>
            <p:ph type="title"/>
          </p:nvPr>
        </p:nvSpPr>
        <p:spPr>
          <a:xfrm>
            <a:off x="720000" y="450011"/>
            <a:ext cx="3396000" cy="107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b="1" sz="3200">
                <a:latin typeface="Bodoni Moda"/>
                <a:ea typeface="Bodoni Moda"/>
                <a:cs typeface="Bodoni Moda"/>
                <a:sym typeface="Bodoni Mod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1_1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/>
          <p:nvPr/>
        </p:nvSpPr>
        <p:spPr>
          <a:xfrm>
            <a:off x="261150" y="239525"/>
            <a:ext cx="8621700" cy="4664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8"/>
          <p:cNvSpPr txBox="1"/>
          <p:nvPr>
            <p:ph idx="1" type="subTitle"/>
          </p:nvPr>
        </p:nvSpPr>
        <p:spPr>
          <a:xfrm>
            <a:off x="720000" y="2521038"/>
            <a:ext cx="2336400" cy="47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i="1" sz="2100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13" name="Google Shape;113;p18"/>
          <p:cNvSpPr txBox="1"/>
          <p:nvPr>
            <p:ph idx="2" type="subTitle"/>
          </p:nvPr>
        </p:nvSpPr>
        <p:spPr>
          <a:xfrm>
            <a:off x="720000" y="2995047"/>
            <a:ext cx="2336400" cy="8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8"/>
          <p:cNvSpPr txBox="1"/>
          <p:nvPr>
            <p:ph idx="3" type="subTitle"/>
          </p:nvPr>
        </p:nvSpPr>
        <p:spPr>
          <a:xfrm>
            <a:off x="3403800" y="2995047"/>
            <a:ext cx="2336400" cy="8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18"/>
          <p:cNvSpPr txBox="1"/>
          <p:nvPr>
            <p:ph idx="4" type="subTitle"/>
          </p:nvPr>
        </p:nvSpPr>
        <p:spPr>
          <a:xfrm>
            <a:off x="6087600" y="2995047"/>
            <a:ext cx="2336400" cy="8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8"/>
          <p:cNvSpPr txBox="1"/>
          <p:nvPr>
            <p:ph idx="5" type="subTitle"/>
          </p:nvPr>
        </p:nvSpPr>
        <p:spPr>
          <a:xfrm>
            <a:off x="3403800" y="2521038"/>
            <a:ext cx="2336400" cy="47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i="1" sz="2100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17" name="Google Shape;117;p18"/>
          <p:cNvSpPr txBox="1"/>
          <p:nvPr>
            <p:ph idx="6" type="subTitle"/>
          </p:nvPr>
        </p:nvSpPr>
        <p:spPr>
          <a:xfrm>
            <a:off x="6087600" y="2521038"/>
            <a:ext cx="2336400" cy="47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i="1" sz="2100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18" name="Google Shape;118;p18"/>
          <p:cNvSpPr txBox="1"/>
          <p:nvPr>
            <p:ph type="title"/>
          </p:nvPr>
        </p:nvSpPr>
        <p:spPr>
          <a:xfrm>
            <a:off x="720000" y="448100"/>
            <a:ext cx="7704000" cy="54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b="1" sz="3200">
                <a:latin typeface="Bodoni Moda"/>
                <a:ea typeface="Bodoni Moda"/>
                <a:cs typeface="Bodoni Moda"/>
                <a:sym typeface="Bodoni Mod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BLANK_1_1_1_1_1_1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/>
          <p:nvPr/>
        </p:nvSpPr>
        <p:spPr>
          <a:xfrm>
            <a:off x="261150" y="239525"/>
            <a:ext cx="8621700" cy="4664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9"/>
          <p:cNvSpPr txBox="1"/>
          <p:nvPr>
            <p:ph idx="1" type="subTitle"/>
          </p:nvPr>
        </p:nvSpPr>
        <p:spPr>
          <a:xfrm>
            <a:off x="719988" y="2411138"/>
            <a:ext cx="1983000" cy="4143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i="1" sz="2100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22" name="Google Shape;122;p19"/>
          <p:cNvSpPr txBox="1"/>
          <p:nvPr>
            <p:ph idx="2" type="subTitle"/>
          </p:nvPr>
        </p:nvSpPr>
        <p:spPr>
          <a:xfrm>
            <a:off x="3580494" y="2411138"/>
            <a:ext cx="1983000" cy="4143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i="1" sz="2100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23" name="Google Shape;123;p19"/>
          <p:cNvSpPr txBox="1"/>
          <p:nvPr>
            <p:ph idx="3" type="subTitle"/>
          </p:nvPr>
        </p:nvSpPr>
        <p:spPr>
          <a:xfrm>
            <a:off x="6440994" y="2411138"/>
            <a:ext cx="1983000" cy="4143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i="1" sz="2100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24" name="Google Shape;124;p19"/>
          <p:cNvSpPr txBox="1"/>
          <p:nvPr>
            <p:ph type="title"/>
          </p:nvPr>
        </p:nvSpPr>
        <p:spPr>
          <a:xfrm>
            <a:off x="720000" y="448100"/>
            <a:ext cx="7704000" cy="54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b="1" sz="3200">
                <a:latin typeface="Bodoni Moda"/>
                <a:ea typeface="Bodoni Moda"/>
                <a:cs typeface="Bodoni Moda"/>
                <a:sym typeface="Bodoni Mod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25" name="Google Shape;125;p19"/>
          <p:cNvSpPr txBox="1"/>
          <p:nvPr>
            <p:ph idx="4" type="body"/>
          </p:nvPr>
        </p:nvSpPr>
        <p:spPr>
          <a:xfrm>
            <a:off x="719988" y="2879403"/>
            <a:ext cx="1983000" cy="10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6" name="Google Shape;126;p19"/>
          <p:cNvSpPr txBox="1"/>
          <p:nvPr>
            <p:ph idx="5" type="body"/>
          </p:nvPr>
        </p:nvSpPr>
        <p:spPr>
          <a:xfrm>
            <a:off x="3580488" y="2879403"/>
            <a:ext cx="1983000" cy="10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7" name="Google Shape;127;p19"/>
          <p:cNvSpPr txBox="1"/>
          <p:nvPr>
            <p:ph idx="6" type="body"/>
          </p:nvPr>
        </p:nvSpPr>
        <p:spPr>
          <a:xfrm>
            <a:off x="6440988" y="2879403"/>
            <a:ext cx="1983000" cy="10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_1_1_1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/>
          <p:nvPr/>
        </p:nvSpPr>
        <p:spPr>
          <a:xfrm>
            <a:off x="261150" y="239525"/>
            <a:ext cx="8621700" cy="4664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0"/>
          <p:cNvSpPr txBox="1"/>
          <p:nvPr>
            <p:ph idx="1" type="subTitle"/>
          </p:nvPr>
        </p:nvSpPr>
        <p:spPr>
          <a:xfrm>
            <a:off x="2170083" y="1591375"/>
            <a:ext cx="21642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i="1" sz="2100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31" name="Google Shape;131;p20"/>
          <p:cNvSpPr txBox="1"/>
          <p:nvPr>
            <p:ph idx="2" type="subTitle"/>
          </p:nvPr>
        </p:nvSpPr>
        <p:spPr>
          <a:xfrm>
            <a:off x="2170075" y="2076175"/>
            <a:ext cx="2164200" cy="576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20"/>
          <p:cNvSpPr txBox="1"/>
          <p:nvPr>
            <p:ph idx="3" type="subTitle"/>
          </p:nvPr>
        </p:nvSpPr>
        <p:spPr>
          <a:xfrm>
            <a:off x="5769125" y="2076175"/>
            <a:ext cx="2164200" cy="576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20"/>
          <p:cNvSpPr txBox="1"/>
          <p:nvPr>
            <p:ph idx="4" type="subTitle"/>
          </p:nvPr>
        </p:nvSpPr>
        <p:spPr>
          <a:xfrm>
            <a:off x="2170075" y="3583100"/>
            <a:ext cx="2164200" cy="576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20"/>
          <p:cNvSpPr txBox="1"/>
          <p:nvPr>
            <p:ph idx="5" type="subTitle"/>
          </p:nvPr>
        </p:nvSpPr>
        <p:spPr>
          <a:xfrm>
            <a:off x="5769125" y="3583100"/>
            <a:ext cx="2164200" cy="576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0"/>
          <p:cNvSpPr txBox="1"/>
          <p:nvPr>
            <p:ph idx="6" type="subTitle"/>
          </p:nvPr>
        </p:nvSpPr>
        <p:spPr>
          <a:xfrm>
            <a:off x="2170083" y="3098300"/>
            <a:ext cx="21642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i="1" sz="2100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36" name="Google Shape;136;p20"/>
          <p:cNvSpPr txBox="1"/>
          <p:nvPr>
            <p:ph idx="7" type="subTitle"/>
          </p:nvPr>
        </p:nvSpPr>
        <p:spPr>
          <a:xfrm>
            <a:off x="5769130" y="1591375"/>
            <a:ext cx="21642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i="1" sz="2100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37" name="Google Shape;137;p20"/>
          <p:cNvSpPr txBox="1"/>
          <p:nvPr>
            <p:ph idx="8" type="subTitle"/>
          </p:nvPr>
        </p:nvSpPr>
        <p:spPr>
          <a:xfrm>
            <a:off x="5769130" y="3098300"/>
            <a:ext cx="21642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i="1" sz="2100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38" name="Google Shape;138;p20"/>
          <p:cNvSpPr txBox="1"/>
          <p:nvPr>
            <p:ph type="title"/>
          </p:nvPr>
        </p:nvSpPr>
        <p:spPr>
          <a:xfrm>
            <a:off x="720000" y="448100"/>
            <a:ext cx="7704000" cy="54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b="1" sz="3200">
                <a:latin typeface="Bodoni Moda"/>
                <a:ea typeface="Bodoni Moda"/>
                <a:cs typeface="Bodoni Moda"/>
                <a:sym typeface="Bodoni Mod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_1_1_1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1"/>
          <p:cNvSpPr/>
          <p:nvPr/>
        </p:nvSpPr>
        <p:spPr>
          <a:xfrm>
            <a:off x="261150" y="239525"/>
            <a:ext cx="8621700" cy="4664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1"/>
          <p:cNvSpPr txBox="1"/>
          <p:nvPr>
            <p:ph type="title"/>
          </p:nvPr>
        </p:nvSpPr>
        <p:spPr>
          <a:xfrm>
            <a:off x="720000" y="448100"/>
            <a:ext cx="7704000" cy="54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b="1" sz="3200">
                <a:latin typeface="Bodoni Moda"/>
                <a:ea typeface="Bodoni Moda"/>
                <a:cs typeface="Bodoni Moda"/>
                <a:sym typeface="Bodoni Mod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42" name="Google Shape;142;p21"/>
          <p:cNvSpPr txBox="1"/>
          <p:nvPr>
            <p:ph idx="1" type="subTitle"/>
          </p:nvPr>
        </p:nvSpPr>
        <p:spPr>
          <a:xfrm>
            <a:off x="944100" y="1874832"/>
            <a:ext cx="1888200" cy="340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i="1" sz="2100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43" name="Google Shape;143;p21"/>
          <p:cNvSpPr txBox="1"/>
          <p:nvPr>
            <p:ph idx="2" type="subTitle"/>
          </p:nvPr>
        </p:nvSpPr>
        <p:spPr>
          <a:xfrm>
            <a:off x="944100" y="2282034"/>
            <a:ext cx="1888200" cy="5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21"/>
          <p:cNvSpPr txBox="1"/>
          <p:nvPr>
            <p:ph idx="3" type="subTitle"/>
          </p:nvPr>
        </p:nvSpPr>
        <p:spPr>
          <a:xfrm>
            <a:off x="3627900" y="2282034"/>
            <a:ext cx="1888200" cy="5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21"/>
          <p:cNvSpPr txBox="1"/>
          <p:nvPr>
            <p:ph idx="4" type="subTitle"/>
          </p:nvPr>
        </p:nvSpPr>
        <p:spPr>
          <a:xfrm>
            <a:off x="6311725" y="2282034"/>
            <a:ext cx="1888200" cy="5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1"/>
          <p:cNvSpPr txBox="1"/>
          <p:nvPr>
            <p:ph idx="5" type="subTitle"/>
          </p:nvPr>
        </p:nvSpPr>
        <p:spPr>
          <a:xfrm>
            <a:off x="3627900" y="1874832"/>
            <a:ext cx="1888200" cy="340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i="1" sz="2100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47" name="Google Shape;147;p21"/>
          <p:cNvSpPr txBox="1"/>
          <p:nvPr>
            <p:ph idx="6" type="subTitle"/>
          </p:nvPr>
        </p:nvSpPr>
        <p:spPr>
          <a:xfrm>
            <a:off x="6311725" y="1874832"/>
            <a:ext cx="1888200" cy="340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i="1" sz="2100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48" name="Google Shape;148;p21"/>
          <p:cNvSpPr txBox="1"/>
          <p:nvPr>
            <p:ph idx="7" type="subTitle"/>
          </p:nvPr>
        </p:nvSpPr>
        <p:spPr>
          <a:xfrm>
            <a:off x="944100" y="3618448"/>
            <a:ext cx="1888200" cy="340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i="1" sz="2100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49" name="Google Shape;149;p21"/>
          <p:cNvSpPr txBox="1"/>
          <p:nvPr>
            <p:ph idx="8" type="subTitle"/>
          </p:nvPr>
        </p:nvSpPr>
        <p:spPr>
          <a:xfrm>
            <a:off x="944100" y="4025701"/>
            <a:ext cx="1888200" cy="5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21"/>
          <p:cNvSpPr txBox="1"/>
          <p:nvPr>
            <p:ph idx="9" type="subTitle"/>
          </p:nvPr>
        </p:nvSpPr>
        <p:spPr>
          <a:xfrm>
            <a:off x="3627900" y="4025701"/>
            <a:ext cx="1888200" cy="5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21"/>
          <p:cNvSpPr txBox="1"/>
          <p:nvPr>
            <p:ph idx="13" type="subTitle"/>
          </p:nvPr>
        </p:nvSpPr>
        <p:spPr>
          <a:xfrm>
            <a:off x="6311725" y="4025701"/>
            <a:ext cx="1888200" cy="5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1"/>
          <p:cNvSpPr txBox="1"/>
          <p:nvPr>
            <p:ph idx="14" type="subTitle"/>
          </p:nvPr>
        </p:nvSpPr>
        <p:spPr>
          <a:xfrm>
            <a:off x="3627900" y="3618448"/>
            <a:ext cx="1888200" cy="340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i="1" sz="2100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53" name="Google Shape;153;p21"/>
          <p:cNvSpPr txBox="1"/>
          <p:nvPr>
            <p:ph idx="15" type="subTitle"/>
          </p:nvPr>
        </p:nvSpPr>
        <p:spPr>
          <a:xfrm>
            <a:off x="6311725" y="3618448"/>
            <a:ext cx="1888200" cy="340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i="1" sz="2100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_1_1_1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2"/>
          <p:cNvSpPr/>
          <p:nvPr/>
        </p:nvSpPr>
        <p:spPr>
          <a:xfrm>
            <a:off x="261150" y="239525"/>
            <a:ext cx="8621700" cy="4664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2"/>
          <p:cNvSpPr txBox="1"/>
          <p:nvPr>
            <p:ph hasCustomPrompt="1" type="title"/>
          </p:nvPr>
        </p:nvSpPr>
        <p:spPr>
          <a:xfrm>
            <a:off x="2859600" y="540000"/>
            <a:ext cx="3424800" cy="7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b="1" i="1" sz="4400">
                <a:latin typeface="Bodoni Moda"/>
                <a:ea typeface="Bodoni Moda"/>
                <a:cs typeface="Bodoni Moda"/>
                <a:sym typeface="Bodoni Mod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57" name="Google Shape;157;p22"/>
          <p:cNvSpPr txBox="1"/>
          <p:nvPr>
            <p:ph idx="1" type="subTitle"/>
          </p:nvPr>
        </p:nvSpPr>
        <p:spPr>
          <a:xfrm>
            <a:off x="2859600" y="1246027"/>
            <a:ext cx="3424800" cy="4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22"/>
          <p:cNvSpPr txBox="1"/>
          <p:nvPr>
            <p:ph hasCustomPrompt="1" idx="2" type="title"/>
          </p:nvPr>
        </p:nvSpPr>
        <p:spPr>
          <a:xfrm>
            <a:off x="2859600" y="1996149"/>
            <a:ext cx="3424800" cy="7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b="1" i="1" sz="4400">
                <a:latin typeface="Bodoni Moda"/>
                <a:ea typeface="Bodoni Moda"/>
                <a:cs typeface="Bodoni Moda"/>
                <a:sym typeface="Bodoni Mod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59" name="Google Shape;159;p22"/>
          <p:cNvSpPr txBox="1"/>
          <p:nvPr>
            <p:ph idx="3" type="subTitle"/>
          </p:nvPr>
        </p:nvSpPr>
        <p:spPr>
          <a:xfrm>
            <a:off x="2859600" y="2702169"/>
            <a:ext cx="3424800" cy="4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22"/>
          <p:cNvSpPr txBox="1"/>
          <p:nvPr>
            <p:ph hasCustomPrompt="1" idx="4" type="title"/>
          </p:nvPr>
        </p:nvSpPr>
        <p:spPr>
          <a:xfrm>
            <a:off x="2859600" y="3452299"/>
            <a:ext cx="3424800" cy="7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b="1" i="1" sz="4400">
                <a:latin typeface="Bodoni Moda"/>
                <a:ea typeface="Bodoni Moda"/>
                <a:cs typeface="Bodoni Moda"/>
                <a:sym typeface="Bodoni Mod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61" name="Google Shape;161;p22"/>
          <p:cNvSpPr txBox="1"/>
          <p:nvPr>
            <p:ph idx="5" type="subTitle"/>
          </p:nvPr>
        </p:nvSpPr>
        <p:spPr>
          <a:xfrm>
            <a:off x="2859600" y="4158324"/>
            <a:ext cx="3424800" cy="4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BLANK_1_1_1_1_1_1_1_1_1_2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3"/>
          <p:cNvSpPr/>
          <p:nvPr/>
        </p:nvSpPr>
        <p:spPr>
          <a:xfrm>
            <a:off x="261150" y="239525"/>
            <a:ext cx="8621700" cy="4664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3"/>
          <p:cNvSpPr txBox="1"/>
          <p:nvPr>
            <p:ph hasCustomPrompt="1" type="title"/>
          </p:nvPr>
        </p:nvSpPr>
        <p:spPr>
          <a:xfrm>
            <a:off x="720000" y="2282300"/>
            <a:ext cx="2614800" cy="58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200"/>
              <a:buNone/>
              <a:defRPr b="1" i="1" sz="2600">
                <a:latin typeface="Bodoni Moda"/>
                <a:ea typeface="Bodoni Moda"/>
                <a:cs typeface="Bodoni Moda"/>
                <a:sym typeface="Bodoni Mod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65" name="Google Shape;165;p23"/>
          <p:cNvSpPr txBox="1"/>
          <p:nvPr>
            <p:ph idx="1" type="subTitle"/>
          </p:nvPr>
        </p:nvSpPr>
        <p:spPr>
          <a:xfrm>
            <a:off x="720000" y="2866050"/>
            <a:ext cx="2614800" cy="4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23"/>
          <p:cNvSpPr txBox="1"/>
          <p:nvPr>
            <p:ph hasCustomPrompt="1" idx="2" type="title"/>
          </p:nvPr>
        </p:nvSpPr>
        <p:spPr>
          <a:xfrm>
            <a:off x="3761889" y="1010450"/>
            <a:ext cx="2082300" cy="49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b="1" i="1" sz="2100">
                <a:latin typeface="Bodoni Moda"/>
                <a:ea typeface="Bodoni Moda"/>
                <a:cs typeface="Bodoni Moda"/>
                <a:sym typeface="Bodoni Mod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67" name="Google Shape;167;p23"/>
          <p:cNvSpPr txBox="1"/>
          <p:nvPr>
            <p:ph idx="3" type="subTitle"/>
          </p:nvPr>
        </p:nvSpPr>
        <p:spPr>
          <a:xfrm>
            <a:off x="3761890" y="1725146"/>
            <a:ext cx="2082300" cy="39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1" sz="2100">
                <a:latin typeface="Bodoni Moda"/>
                <a:ea typeface="Bodoni Moda"/>
                <a:cs typeface="Bodoni Moda"/>
                <a:sym typeface="Bodoni Mod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23"/>
          <p:cNvSpPr txBox="1"/>
          <p:nvPr>
            <p:ph hasCustomPrompt="1" idx="4" type="title"/>
          </p:nvPr>
        </p:nvSpPr>
        <p:spPr>
          <a:xfrm>
            <a:off x="6341700" y="1010450"/>
            <a:ext cx="2082300" cy="49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b="1" i="1" sz="2100">
                <a:latin typeface="Bodoni Moda"/>
                <a:ea typeface="Bodoni Moda"/>
                <a:cs typeface="Bodoni Moda"/>
                <a:sym typeface="Bodoni Mod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69" name="Google Shape;169;p23"/>
          <p:cNvSpPr txBox="1"/>
          <p:nvPr>
            <p:ph idx="5" type="subTitle"/>
          </p:nvPr>
        </p:nvSpPr>
        <p:spPr>
          <a:xfrm>
            <a:off x="6341700" y="1728270"/>
            <a:ext cx="2082300" cy="39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1" sz="2100">
                <a:latin typeface="Bodoni Moda"/>
                <a:ea typeface="Bodoni Moda"/>
                <a:cs typeface="Bodoni Moda"/>
                <a:sym typeface="Bodoni Mod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23"/>
          <p:cNvSpPr txBox="1"/>
          <p:nvPr>
            <p:ph idx="6" type="title"/>
          </p:nvPr>
        </p:nvSpPr>
        <p:spPr>
          <a:xfrm>
            <a:off x="694150" y="450575"/>
            <a:ext cx="7704000" cy="54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b="1" sz="3200">
                <a:latin typeface="Bodoni Moda"/>
                <a:ea typeface="Bodoni Moda"/>
                <a:cs typeface="Bodoni Moda"/>
                <a:sym typeface="Bodoni Mod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71" name="Google Shape;171;p23"/>
          <p:cNvSpPr txBox="1"/>
          <p:nvPr>
            <p:ph hasCustomPrompt="1" idx="7" type="title"/>
          </p:nvPr>
        </p:nvSpPr>
        <p:spPr>
          <a:xfrm>
            <a:off x="3761875" y="2898425"/>
            <a:ext cx="2082300" cy="49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b="1" i="1" sz="2100">
                <a:latin typeface="Bodoni Moda"/>
                <a:ea typeface="Bodoni Moda"/>
                <a:cs typeface="Bodoni Moda"/>
                <a:sym typeface="Bodoni Mod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72" name="Google Shape;172;p23"/>
          <p:cNvSpPr txBox="1"/>
          <p:nvPr>
            <p:ph idx="8" type="subTitle"/>
          </p:nvPr>
        </p:nvSpPr>
        <p:spPr>
          <a:xfrm>
            <a:off x="3761889" y="3589509"/>
            <a:ext cx="2082300" cy="4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1" sz="2100">
                <a:latin typeface="Bodoni Moda"/>
                <a:ea typeface="Bodoni Moda"/>
                <a:cs typeface="Bodoni Moda"/>
                <a:sym typeface="Bodoni Mod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23"/>
          <p:cNvSpPr txBox="1"/>
          <p:nvPr>
            <p:ph hasCustomPrompt="1" idx="9" type="title"/>
          </p:nvPr>
        </p:nvSpPr>
        <p:spPr>
          <a:xfrm>
            <a:off x="6341700" y="2898425"/>
            <a:ext cx="2082300" cy="49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b="1" i="1" sz="2100">
                <a:latin typeface="Bodoni Moda"/>
                <a:ea typeface="Bodoni Moda"/>
                <a:cs typeface="Bodoni Moda"/>
                <a:sym typeface="Bodoni Mod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74" name="Google Shape;174;p23"/>
          <p:cNvSpPr txBox="1"/>
          <p:nvPr>
            <p:ph idx="13" type="subTitle"/>
          </p:nvPr>
        </p:nvSpPr>
        <p:spPr>
          <a:xfrm>
            <a:off x="6341700" y="3589509"/>
            <a:ext cx="2082300" cy="4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1" sz="2100">
                <a:latin typeface="Bodoni Moda"/>
                <a:ea typeface="Bodoni Moda"/>
                <a:cs typeface="Bodoni Moda"/>
                <a:sym typeface="Bodoni Mod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23"/>
          <p:cNvSpPr txBox="1"/>
          <p:nvPr>
            <p:ph idx="14" type="subTitle"/>
          </p:nvPr>
        </p:nvSpPr>
        <p:spPr>
          <a:xfrm>
            <a:off x="3761881" y="2125075"/>
            <a:ext cx="2082300" cy="54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23"/>
          <p:cNvSpPr txBox="1"/>
          <p:nvPr>
            <p:ph idx="15" type="subTitle"/>
          </p:nvPr>
        </p:nvSpPr>
        <p:spPr>
          <a:xfrm>
            <a:off x="6341700" y="2124198"/>
            <a:ext cx="2082300" cy="54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23"/>
          <p:cNvSpPr txBox="1"/>
          <p:nvPr>
            <p:ph idx="16" type="subTitle"/>
          </p:nvPr>
        </p:nvSpPr>
        <p:spPr>
          <a:xfrm>
            <a:off x="3761900" y="4037410"/>
            <a:ext cx="2082300" cy="54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23"/>
          <p:cNvSpPr txBox="1"/>
          <p:nvPr>
            <p:ph idx="17" type="subTitle"/>
          </p:nvPr>
        </p:nvSpPr>
        <p:spPr>
          <a:xfrm>
            <a:off x="6341700" y="4019710"/>
            <a:ext cx="2082300" cy="58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1_1_1_1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4"/>
          <p:cNvSpPr/>
          <p:nvPr/>
        </p:nvSpPr>
        <p:spPr>
          <a:xfrm>
            <a:off x="261150" y="492150"/>
            <a:ext cx="8621700" cy="4159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1" name="Google Shape;181;p24"/>
          <p:cNvGrpSpPr/>
          <p:nvPr/>
        </p:nvGrpSpPr>
        <p:grpSpPr>
          <a:xfrm>
            <a:off x="-35550" y="239525"/>
            <a:ext cx="9215400" cy="4670750"/>
            <a:chOff x="-35700" y="239525"/>
            <a:chExt cx="9215400" cy="4670750"/>
          </a:xfrm>
        </p:grpSpPr>
        <p:cxnSp>
          <p:nvCxnSpPr>
            <p:cNvPr id="182" name="Google Shape;182;p24"/>
            <p:cNvCxnSpPr/>
            <p:nvPr/>
          </p:nvCxnSpPr>
          <p:spPr>
            <a:xfrm>
              <a:off x="-35700" y="4910275"/>
              <a:ext cx="9215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3" name="Google Shape;183;p24"/>
            <p:cNvCxnSpPr/>
            <p:nvPr/>
          </p:nvCxnSpPr>
          <p:spPr>
            <a:xfrm>
              <a:off x="-35700" y="239525"/>
              <a:ext cx="9215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84" name="Google Shape;184;p24"/>
          <p:cNvSpPr txBox="1"/>
          <p:nvPr>
            <p:ph type="ctrTitle"/>
          </p:nvPr>
        </p:nvSpPr>
        <p:spPr>
          <a:xfrm>
            <a:off x="1791300" y="616200"/>
            <a:ext cx="5561400" cy="9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b="1" sz="5800">
                <a:latin typeface="Bodoni Moda"/>
                <a:ea typeface="Bodoni Moda"/>
                <a:cs typeface="Bodoni Moda"/>
                <a:sym typeface="Bodoni Mod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85" name="Google Shape;185;p24"/>
          <p:cNvSpPr txBox="1"/>
          <p:nvPr>
            <p:ph idx="1" type="subTitle"/>
          </p:nvPr>
        </p:nvSpPr>
        <p:spPr>
          <a:xfrm>
            <a:off x="2425050" y="2376150"/>
            <a:ext cx="4293900" cy="99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6" name="Google Shape;186;p24"/>
          <p:cNvSpPr txBox="1"/>
          <p:nvPr/>
        </p:nvSpPr>
        <p:spPr>
          <a:xfrm>
            <a:off x="3072029" y="3374427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CREDITS: This presentation template was created by </a:t>
            </a:r>
            <a:r>
              <a:rPr b="1" lang="en-GB" sz="1000">
                <a:solidFill>
                  <a:schemeClr val="dk1"/>
                </a:solidFill>
                <a:uFill>
                  <a:noFill/>
                </a:uFill>
                <a:latin typeface="Public Sans"/>
                <a:ea typeface="Public Sans"/>
                <a:cs typeface="Public Sans"/>
                <a:sym typeface="Public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-GB"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, and includes icons, infographics &amp; images by </a:t>
            </a:r>
            <a:r>
              <a:rPr b="1" lang="en-GB" sz="1000">
                <a:solidFill>
                  <a:schemeClr val="dk1"/>
                </a:solidFill>
                <a:uFill>
                  <a:noFill/>
                </a:uFill>
                <a:latin typeface="Public Sans"/>
                <a:ea typeface="Public Sans"/>
                <a:cs typeface="Public Sans"/>
                <a:sym typeface="Public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_1_1_1_1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5"/>
          <p:cNvSpPr/>
          <p:nvPr/>
        </p:nvSpPr>
        <p:spPr>
          <a:xfrm>
            <a:off x="261150" y="239525"/>
            <a:ext cx="8621700" cy="4664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9" name="Google Shape;189;p25"/>
          <p:cNvCxnSpPr/>
          <p:nvPr/>
        </p:nvCxnSpPr>
        <p:spPr>
          <a:xfrm>
            <a:off x="4603100" y="809950"/>
            <a:ext cx="4279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_1_1_1_1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6"/>
          <p:cNvSpPr/>
          <p:nvPr/>
        </p:nvSpPr>
        <p:spPr>
          <a:xfrm>
            <a:off x="261150" y="492150"/>
            <a:ext cx="8621700" cy="4159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2" name="Google Shape;192;p26"/>
          <p:cNvGrpSpPr/>
          <p:nvPr/>
        </p:nvGrpSpPr>
        <p:grpSpPr>
          <a:xfrm>
            <a:off x="-35550" y="239525"/>
            <a:ext cx="9215400" cy="4670750"/>
            <a:chOff x="-35700" y="239525"/>
            <a:chExt cx="9215400" cy="4670750"/>
          </a:xfrm>
        </p:grpSpPr>
        <p:cxnSp>
          <p:nvCxnSpPr>
            <p:cNvPr id="193" name="Google Shape;193;p26"/>
            <p:cNvCxnSpPr/>
            <p:nvPr/>
          </p:nvCxnSpPr>
          <p:spPr>
            <a:xfrm>
              <a:off x="-35700" y="4910275"/>
              <a:ext cx="9215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4" name="Google Shape;194;p26"/>
            <p:cNvCxnSpPr/>
            <p:nvPr/>
          </p:nvCxnSpPr>
          <p:spPr>
            <a:xfrm>
              <a:off x="-35700" y="239525"/>
              <a:ext cx="9215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97" name="Google Shape;197;p2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98" name="Google Shape;198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7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20000" y="444228"/>
            <a:ext cx="7704000" cy="5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doni Moda"/>
              <a:buNone/>
              <a:defRPr b="1" sz="3200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doni Moda"/>
              <a:buNone/>
              <a:defRPr b="1" sz="3200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doni Moda"/>
              <a:buNone/>
              <a:defRPr b="1" sz="3200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doni Moda"/>
              <a:buNone/>
              <a:defRPr b="1" sz="3200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doni Moda"/>
              <a:buNone/>
              <a:defRPr b="1" sz="3200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doni Moda"/>
              <a:buNone/>
              <a:defRPr b="1" sz="3200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doni Moda"/>
              <a:buNone/>
              <a:defRPr b="1" sz="3200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doni Moda"/>
              <a:buNone/>
              <a:defRPr b="1" sz="3200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doni Moda"/>
              <a:buNone/>
              <a:defRPr b="1" sz="3200">
                <a:solidFill>
                  <a:schemeClr val="dk1"/>
                </a:solidFill>
                <a:latin typeface="Bodoni Moda"/>
                <a:ea typeface="Bodoni Moda"/>
                <a:cs typeface="Bodoni Moda"/>
                <a:sym typeface="Bodoni Mod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20000" y="1231156"/>
            <a:ext cx="7704000" cy="33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Char char="●"/>
              <a:defRPr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Char char="○"/>
              <a:defRPr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Char char="■"/>
              <a:defRPr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Char char="●"/>
              <a:defRPr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Char char="○"/>
              <a:defRPr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Char char="■"/>
              <a:defRPr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Char char="●"/>
              <a:defRPr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Char char="○"/>
              <a:defRPr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Char char="■"/>
              <a:defRPr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humansintheloop.org/how-to-build-your-human-in-the-loop-pipeline-a-step-by-step-guide/" TargetMode="External"/><Relationship Id="rId4" Type="http://schemas.openxmlformats.org/officeDocument/2006/relationships/hyperlink" Target="https://www.ibm.com/think/topics/model-training/" TargetMode="External"/><Relationship Id="rId9" Type="http://schemas.openxmlformats.org/officeDocument/2006/relationships/hyperlink" Target="https://arxiv.org/abs/2211.08458" TargetMode="External"/><Relationship Id="rId5" Type="http://schemas.openxmlformats.org/officeDocument/2006/relationships/hyperlink" Target="https://lamarr-institute.org/blog/ai-training-data-bias/" TargetMode="External"/><Relationship Id="rId6" Type="http://schemas.openxmlformats.org/officeDocument/2006/relationships/hyperlink" Target="https://www.ibm.com/think/topics/machine-learning-pipeline/" TargetMode="External"/><Relationship Id="rId7" Type="http://schemas.openxmlformats.org/officeDocument/2006/relationships/hyperlink" Target="https://www.science.org/doi/10.1126/science.aax2342" TargetMode="External"/><Relationship Id="rId8" Type="http://schemas.openxmlformats.org/officeDocument/2006/relationships/hyperlink" Target="https://doi.org/10.6028/NIST.IR.8280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8"/>
          <p:cNvSpPr txBox="1"/>
          <p:nvPr/>
        </p:nvSpPr>
        <p:spPr>
          <a:xfrm>
            <a:off x="1443300" y="1167955"/>
            <a:ext cx="6257400" cy="21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800">
                <a:solidFill>
                  <a:srgbClr val="C62F35"/>
                </a:solidFill>
                <a:latin typeface="Bodoni Moda"/>
                <a:ea typeface="Bodoni Moda"/>
                <a:cs typeface="Bodoni Moda"/>
                <a:sym typeface="Bodoni Moda"/>
              </a:rPr>
              <a:t>AI Training Pipeline</a:t>
            </a:r>
            <a:endParaRPr b="1" sz="4800">
              <a:solidFill>
                <a:srgbClr val="C62F35"/>
              </a:solidFill>
              <a:latin typeface="Bodoni Moda"/>
              <a:ea typeface="Bodoni Moda"/>
              <a:cs typeface="Bodoni Moda"/>
              <a:sym typeface="Bodoni Moda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800">
                <a:solidFill>
                  <a:srgbClr val="C62F35"/>
                </a:solidFill>
                <a:latin typeface="Bodoni Moda"/>
                <a:ea typeface="Bodoni Moda"/>
                <a:cs typeface="Bodoni Moda"/>
                <a:sym typeface="Bodoni Moda"/>
              </a:rPr>
              <a:t>- Group Poodles - </a:t>
            </a:r>
            <a:endParaRPr b="1" sz="4800">
              <a:solidFill>
                <a:srgbClr val="C62F35"/>
              </a:solidFill>
              <a:latin typeface="Bodoni Moda"/>
              <a:ea typeface="Bodoni Moda"/>
              <a:cs typeface="Bodoni Moda"/>
              <a:sym typeface="Bodoni Moda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300">
              <a:solidFill>
                <a:srgbClr val="C62F35"/>
              </a:solidFill>
              <a:latin typeface="Bodoni Moda ExtraBold"/>
              <a:ea typeface="Bodoni Moda ExtraBold"/>
              <a:cs typeface="Bodoni Moda ExtraBold"/>
              <a:sym typeface="Bodoni Moda ExtraBold"/>
            </a:endParaRPr>
          </a:p>
        </p:txBody>
      </p:sp>
      <p:sp>
        <p:nvSpPr>
          <p:cNvPr id="204" name="Google Shape;204;p28"/>
          <p:cNvSpPr txBox="1"/>
          <p:nvPr/>
        </p:nvSpPr>
        <p:spPr>
          <a:xfrm>
            <a:off x="2493750" y="3457947"/>
            <a:ext cx="4156500" cy="6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C62F35"/>
                </a:solidFill>
                <a:latin typeface="Public Sans"/>
                <a:ea typeface="Public Sans"/>
                <a:cs typeface="Public Sans"/>
                <a:sym typeface="Public Sans"/>
              </a:rPr>
              <a:t>MingJun Jin, Nicole Lin, Danny Roeder, Demetrius Ho Sang, Thomas Wheelock</a:t>
            </a:r>
            <a:endParaRPr sz="1600">
              <a:solidFill>
                <a:srgbClr val="C62F35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cxnSp>
        <p:nvCxnSpPr>
          <p:cNvPr id="205" name="Google Shape;205;p28"/>
          <p:cNvCxnSpPr/>
          <p:nvPr/>
        </p:nvCxnSpPr>
        <p:spPr>
          <a:xfrm>
            <a:off x="2635050" y="3360250"/>
            <a:ext cx="3873900" cy="0"/>
          </a:xfrm>
          <a:prstGeom prst="straightConnector1">
            <a:avLst/>
          </a:prstGeom>
          <a:noFill/>
          <a:ln cap="flat" cmpd="sng" w="9525">
            <a:solidFill>
              <a:srgbClr val="C62F35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9"/>
          <p:cNvSpPr txBox="1"/>
          <p:nvPr/>
        </p:nvSpPr>
        <p:spPr>
          <a:xfrm>
            <a:off x="720000" y="1034233"/>
            <a:ext cx="7704000" cy="34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C62F35"/>
              </a:buClr>
              <a:buSzPts val="1600"/>
              <a:buFont typeface="Public Sans"/>
              <a:buChar char="●"/>
            </a:pPr>
            <a:r>
              <a:rPr lang="en-GB" sz="1600">
                <a:solidFill>
                  <a:srgbClr val="C62F35"/>
                </a:solidFill>
                <a:latin typeface="Public Sans"/>
                <a:ea typeface="Public Sans"/>
                <a:cs typeface="Public Sans"/>
                <a:sym typeface="Public Sans"/>
              </a:rPr>
              <a:t>AI systems learn from data, so any bias in the data becomes bias in the model</a:t>
            </a:r>
            <a:endParaRPr sz="1600">
              <a:solidFill>
                <a:srgbClr val="C62F35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rgbClr val="C62F35"/>
              </a:buClr>
              <a:buSzPts val="1600"/>
              <a:buFont typeface="Public Sans"/>
              <a:buChar char="●"/>
            </a:pPr>
            <a:r>
              <a:rPr lang="en-GB" sz="1600">
                <a:solidFill>
                  <a:srgbClr val="C62F35"/>
                </a:solidFill>
                <a:latin typeface="Public Sans"/>
                <a:ea typeface="Public Sans"/>
                <a:cs typeface="Public Sans"/>
                <a:sym typeface="Public Sans"/>
              </a:rPr>
              <a:t>Most problems start early in the pipeline, long before training</a:t>
            </a:r>
            <a:endParaRPr sz="1600">
              <a:solidFill>
                <a:srgbClr val="C62F35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rgbClr val="C62F35"/>
              </a:buClr>
              <a:buSzPts val="1600"/>
              <a:buFont typeface="Public Sans"/>
              <a:buChar char="●"/>
            </a:pPr>
            <a:r>
              <a:rPr lang="en-GB" sz="1600">
                <a:solidFill>
                  <a:srgbClr val="C62F35"/>
                </a:solidFill>
                <a:latin typeface="Public Sans"/>
                <a:ea typeface="Public Sans"/>
                <a:cs typeface="Public Sans"/>
                <a:sym typeface="Public Sans"/>
              </a:rPr>
              <a:t>Policymakers tend to focus on regulating outputs instead of inputs</a:t>
            </a:r>
            <a:endParaRPr sz="1600">
              <a:solidFill>
                <a:srgbClr val="C62F35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rgbClr val="C62F35"/>
              </a:buClr>
              <a:buSzPts val="1600"/>
              <a:buFont typeface="Public Sans"/>
              <a:buChar char="●"/>
            </a:pPr>
            <a:r>
              <a:rPr lang="en-GB" sz="1600">
                <a:solidFill>
                  <a:srgbClr val="C62F35"/>
                </a:solidFill>
                <a:latin typeface="Public Sans"/>
                <a:ea typeface="Public Sans"/>
                <a:cs typeface="Public Sans"/>
                <a:sym typeface="Public Sans"/>
              </a:rPr>
              <a:t>Because modern AI is used in hiring, healthcare, law enforcement, and media, biased pipelines can amplify inequalities</a:t>
            </a:r>
            <a:endParaRPr sz="1600">
              <a:solidFill>
                <a:srgbClr val="C62F35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C62F35"/>
              </a:buClr>
              <a:buSzPts val="1600"/>
              <a:buFont typeface="Public Sans"/>
              <a:buChar char="●"/>
            </a:pPr>
            <a:r>
              <a:rPr lang="en-GB" sz="1600">
                <a:solidFill>
                  <a:srgbClr val="C62F35"/>
                </a:solidFill>
                <a:latin typeface="Public Sans"/>
                <a:ea typeface="Public Sans"/>
                <a:cs typeface="Public Sans"/>
                <a:sym typeface="Public Sans"/>
              </a:rPr>
              <a:t>Understanding how data choices create bias helps prevent harm before deployment</a:t>
            </a:r>
            <a:endParaRPr sz="1600">
              <a:solidFill>
                <a:srgbClr val="C62F35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11" name="Google Shape;211;p29"/>
          <p:cNvSpPr txBox="1"/>
          <p:nvPr/>
        </p:nvSpPr>
        <p:spPr>
          <a:xfrm>
            <a:off x="720000" y="428925"/>
            <a:ext cx="77040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200">
                <a:solidFill>
                  <a:srgbClr val="C62F35"/>
                </a:solidFill>
                <a:latin typeface="Bodoni Moda"/>
                <a:ea typeface="Bodoni Moda"/>
                <a:cs typeface="Bodoni Moda"/>
                <a:sym typeface="Bodoni Moda"/>
              </a:rPr>
              <a:t>Introduction</a:t>
            </a:r>
            <a:endParaRPr b="1" sz="3200">
              <a:solidFill>
                <a:srgbClr val="C62F35"/>
              </a:solidFill>
              <a:latin typeface="Bodoni Moda"/>
              <a:ea typeface="Bodoni Moda"/>
              <a:cs typeface="Bodoni Moda"/>
              <a:sym typeface="Bodoni Moda"/>
            </a:endParaRPr>
          </a:p>
        </p:txBody>
      </p:sp>
      <p:cxnSp>
        <p:nvCxnSpPr>
          <p:cNvPr id="212" name="Google Shape;212;p29"/>
          <p:cNvCxnSpPr/>
          <p:nvPr/>
        </p:nvCxnSpPr>
        <p:spPr>
          <a:xfrm>
            <a:off x="3599500" y="795675"/>
            <a:ext cx="5283300" cy="14400"/>
          </a:xfrm>
          <a:prstGeom prst="straightConnector1">
            <a:avLst/>
          </a:prstGeom>
          <a:noFill/>
          <a:ln cap="flat" cmpd="sng" w="9525">
            <a:solidFill>
              <a:srgbClr val="C62F35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0"/>
          <p:cNvSpPr txBox="1"/>
          <p:nvPr/>
        </p:nvSpPr>
        <p:spPr>
          <a:xfrm>
            <a:off x="720000" y="450575"/>
            <a:ext cx="77040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200">
                <a:solidFill>
                  <a:srgbClr val="C62F35"/>
                </a:solidFill>
                <a:latin typeface="Bodoni Moda"/>
                <a:ea typeface="Bodoni Moda"/>
                <a:cs typeface="Bodoni Moda"/>
                <a:sym typeface="Bodoni Moda"/>
              </a:rPr>
              <a:t>AI Pipeline</a:t>
            </a:r>
            <a:endParaRPr b="1" sz="3200">
              <a:solidFill>
                <a:srgbClr val="C62F35"/>
              </a:solidFill>
              <a:latin typeface="Bodoni Moda"/>
              <a:ea typeface="Bodoni Moda"/>
              <a:cs typeface="Bodoni Moda"/>
              <a:sym typeface="Bodoni Moda"/>
            </a:endParaRPr>
          </a:p>
        </p:txBody>
      </p:sp>
      <p:cxnSp>
        <p:nvCxnSpPr>
          <p:cNvPr id="218" name="Google Shape;218;p30"/>
          <p:cNvCxnSpPr/>
          <p:nvPr/>
        </p:nvCxnSpPr>
        <p:spPr>
          <a:xfrm>
            <a:off x="712700" y="2693525"/>
            <a:ext cx="8175600" cy="0"/>
          </a:xfrm>
          <a:prstGeom prst="straightConnector1">
            <a:avLst/>
          </a:prstGeom>
          <a:noFill/>
          <a:ln cap="flat" cmpd="sng" w="9525">
            <a:solidFill>
              <a:srgbClr val="C62F35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19" name="Google Shape;219;p30"/>
          <p:cNvSpPr txBox="1"/>
          <p:nvPr/>
        </p:nvSpPr>
        <p:spPr>
          <a:xfrm>
            <a:off x="723700" y="3340242"/>
            <a:ext cx="1544100" cy="7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1" lang="en-GB" sz="1600">
                <a:solidFill>
                  <a:srgbClr val="C62F35"/>
                </a:solidFill>
                <a:latin typeface="Bodoni Moda"/>
                <a:ea typeface="Bodoni Moda"/>
                <a:cs typeface="Bodoni Moda"/>
                <a:sym typeface="Bodoni Moda"/>
              </a:rPr>
              <a:t>Problem Definition</a:t>
            </a:r>
            <a:endParaRPr b="1" i="1" sz="1600">
              <a:solidFill>
                <a:srgbClr val="C62F35"/>
              </a:solidFill>
              <a:latin typeface="Bodoni Moda"/>
              <a:ea typeface="Bodoni Moda"/>
              <a:cs typeface="Bodoni Moda"/>
              <a:sym typeface="Bodoni Moda"/>
            </a:endParaRPr>
          </a:p>
        </p:txBody>
      </p:sp>
      <p:sp>
        <p:nvSpPr>
          <p:cNvPr id="220" name="Google Shape;220;p30"/>
          <p:cNvSpPr txBox="1"/>
          <p:nvPr/>
        </p:nvSpPr>
        <p:spPr>
          <a:xfrm>
            <a:off x="2043250" y="3327502"/>
            <a:ext cx="15441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1" lang="en-GB" sz="1600">
                <a:solidFill>
                  <a:srgbClr val="C62F35"/>
                </a:solidFill>
                <a:latin typeface="Bodoni Moda"/>
                <a:ea typeface="Bodoni Moda"/>
                <a:cs typeface="Bodoni Moda"/>
                <a:sym typeface="Bodoni Moda"/>
              </a:rPr>
              <a:t>Data </a:t>
            </a:r>
            <a:endParaRPr b="1" i="1" sz="1600">
              <a:solidFill>
                <a:srgbClr val="C62F35"/>
              </a:solidFill>
              <a:latin typeface="Bodoni Moda"/>
              <a:ea typeface="Bodoni Moda"/>
              <a:cs typeface="Bodoni Moda"/>
              <a:sym typeface="Bodoni Mod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1" lang="en-GB" sz="1600">
                <a:solidFill>
                  <a:srgbClr val="C62F35"/>
                </a:solidFill>
                <a:latin typeface="Bodoni Moda"/>
                <a:ea typeface="Bodoni Moda"/>
                <a:cs typeface="Bodoni Moda"/>
                <a:sym typeface="Bodoni Moda"/>
              </a:rPr>
              <a:t>sourcing</a:t>
            </a:r>
            <a:endParaRPr b="1" i="1" sz="1600">
              <a:solidFill>
                <a:srgbClr val="C62F35"/>
              </a:solidFill>
              <a:latin typeface="Bodoni Moda"/>
              <a:ea typeface="Bodoni Moda"/>
              <a:cs typeface="Bodoni Moda"/>
              <a:sym typeface="Bodoni Moda"/>
            </a:endParaRPr>
          </a:p>
        </p:txBody>
      </p:sp>
      <p:sp>
        <p:nvSpPr>
          <p:cNvPr id="221" name="Google Shape;221;p30"/>
          <p:cNvSpPr txBox="1"/>
          <p:nvPr/>
        </p:nvSpPr>
        <p:spPr>
          <a:xfrm>
            <a:off x="3253838" y="3347950"/>
            <a:ext cx="14523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1" lang="en-GB" sz="1600">
                <a:solidFill>
                  <a:srgbClr val="C62F35"/>
                </a:solidFill>
                <a:latin typeface="Bodoni Moda"/>
                <a:ea typeface="Bodoni Moda"/>
                <a:cs typeface="Bodoni Moda"/>
                <a:sym typeface="Bodoni Moda"/>
              </a:rPr>
              <a:t>Pre-</a:t>
            </a:r>
            <a:endParaRPr b="1" i="1" sz="1600">
              <a:solidFill>
                <a:srgbClr val="C62F35"/>
              </a:solidFill>
              <a:latin typeface="Bodoni Moda"/>
              <a:ea typeface="Bodoni Moda"/>
              <a:cs typeface="Bodoni Moda"/>
              <a:sym typeface="Bodoni Mod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1" lang="en-GB" sz="1600">
                <a:solidFill>
                  <a:srgbClr val="C62F35"/>
                </a:solidFill>
                <a:latin typeface="Bodoni Moda"/>
                <a:ea typeface="Bodoni Moda"/>
                <a:cs typeface="Bodoni Moda"/>
                <a:sym typeface="Bodoni Moda"/>
              </a:rPr>
              <a:t>processing</a:t>
            </a:r>
            <a:endParaRPr b="1" i="1" sz="1600">
              <a:solidFill>
                <a:srgbClr val="C62F35"/>
              </a:solidFill>
              <a:latin typeface="Bodoni Moda"/>
              <a:ea typeface="Bodoni Moda"/>
              <a:cs typeface="Bodoni Moda"/>
              <a:sym typeface="Bodoni Moda"/>
            </a:endParaRPr>
          </a:p>
        </p:txBody>
      </p:sp>
      <p:sp>
        <p:nvSpPr>
          <p:cNvPr id="222" name="Google Shape;222;p30"/>
          <p:cNvSpPr txBox="1"/>
          <p:nvPr/>
        </p:nvSpPr>
        <p:spPr>
          <a:xfrm>
            <a:off x="4338730" y="3324131"/>
            <a:ext cx="154410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1" lang="en-GB" sz="1600">
                <a:solidFill>
                  <a:srgbClr val="C62F35"/>
                </a:solidFill>
                <a:latin typeface="Bodoni Moda"/>
                <a:ea typeface="Bodoni Moda"/>
                <a:cs typeface="Bodoni Moda"/>
                <a:sym typeface="Bodoni Moda"/>
              </a:rPr>
              <a:t>Pre-Training</a:t>
            </a:r>
            <a:endParaRPr b="1" i="1" sz="1600">
              <a:solidFill>
                <a:srgbClr val="C62F35"/>
              </a:solidFill>
              <a:latin typeface="Bodoni Moda"/>
              <a:ea typeface="Bodoni Moda"/>
              <a:cs typeface="Bodoni Moda"/>
              <a:sym typeface="Bodoni Moda"/>
            </a:endParaRPr>
          </a:p>
        </p:txBody>
      </p:sp>
      <p:sp>
        <p:nvSpPr>
          <p:cNvPr id="223" name="Google Shape;223;p30"/>
          <p:cNvSpPr/>
          <p:nvPr/>
        </p:nvSpPr>
        <p:spPr>
          <a:xfrm>
            <a:off x="948250" y="1439197"/>
            <a:ext cx="10950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1" lang="en-GB" sz="3600">
                <a:solidFill>
                  <a:srgbClr val="C62F35"/>
                </a:solidFill>
                <a:latin typeface="Bodoni Moda"/>
                <a:ea typeface="Bodoni Moda"/>
                <a:cs typeface="Bodoni Moda"/>
                <a:sym typeface="Bodoni Moda"/>
              </a:rPr>
              <a:t>1</a:t>
            </a:r>
            <a:endParaRPr b="1" i="1" sz="3600">
              <a:solidFill>
                <a:srgbClr val="C62F35"/>
              </a:solidFill>
              <a:latin typeface="Bodoni Moda"/>
              <a:ea typeface="Bodoni Moda"/>
              <a:cs typeface="Bodoni Moda"/>
              <a:sym typeface="Bodoni Moda"/>
            </a:endParaRPr>
          </a:p>
        </p:txBody>
      </p:sp>
      <p:sp>
        <p:nvSpPr>
          <p:cNvPr id="224" name="Google Shape;224;p30"/>
          <p:cNvSpPr/>
          <p:nvPr/>
        </p:nvSpPr>
        <p:spPr>
          <a:xfrm>
            <a:off x="2267800" y="1427447"/>
            <a:ext cx="10950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3600">
                <a:solidFill>
                  <a:srgbClr val="C62F35"/>
                </a:solidFill>
                <a:latin typeface="Bodoni Moda"/>
                <a:ea typeface="Bodoni Moda"/>
                <a:cs typeface="Bodoni Moda"/>
                <a:sym typeface="Bodoni Moda"/>
              </a:rPr>
              <a:t>2</a:t>
            </a:r>
            <a:endParaRPr b="1" i="1" sz="3600">
              <a:solidFill>
                <a:srgbClr val="C62F35"/>
              </a:solidFill>
              <a:latin typeface="Bodoni Moda"/>
              <a:ea typeface="Bodoni Moda"/>
              <a:cs typeface="Bodoni Moda"/>
              <a:sym typeface="Bodoni Moda"/>
            </a:endParaRPr>
          </a:p>
        </p:txBody>
      </p:sp>
      <p:sp>
        <p:nvSpPr>
          <p:cNvPr id="225" name="Google Shape;225;p30"/>
          <p:cNvSpPr/>
          <p:nvPr/>
        </p:nvSpPr>
        <p:spPr>
          <a:xfrm>
            <a:off x="3438000" y="1435684"/>
            <a:ext cx="10950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3600">
                <a:solidFill>
                  <a:srgbClr val="C62F35"/>
                </a:solidFill>
                <a:latin typeface="Bodoni Moda"/>
                <a:ea typeface="Bodoni Moda"/>
                <a:cs typeface="Bodoni Moda"/>
                <a:sym typeface="Bodoni Moda"/>
              </a:rPr>
              <a:t>3</a:t>
            </a:r>
            <a:endParaRPr b="1" i="1" sz="3600">
              <a:solidFill>
                <a:srgbClr val="C62F35"/>
              </a:solidFill>
              <a:latin typeface="Bodoni Moda"/>
              <a:ea typeface="Bodoni Moda"/>
              <a:cs typeface="Bodoni Moda"/>
              <a:sym typeface="Bodoni Moda"/>
            </a:endParaRPr>
          </a:p>
        </p:txBody>
      </p:sp>
      <p:sp>
        <p:nvSpPr>
          <p:cNvPr id="226" name="Google Shape;226;p30"/>
          <p:cNvSpPr/>
          <p:nvPr/>
        </p:nvSpPr>
        <p:spPr>
          <a:xfrm>
            <a:off x="4563275" y="1435684"/>
            <a:ext cx="10950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3600">
                <a:solidFill>
                  <a:srgbClr val="C62F35"/>
                </a:solidFill>
                <a:latin typeface="Bodoni Moda"/>
                <a:ea typeface="Bodoni Moda"/>
                <a:cs typeface="Bodoni Moda"/>
                <a:sym typeface="Bodoni Moda"/>
              </a:rPr>
              <a:t>4</a:t>
            </a:r>
            <a:endParaRPr b="1" i="1" sz="3600">
              <a:solidFill>
                <a:srgbClr val="C62F35"/>
              </a:solidFill>
              <a:latin typeface="Bodoni Moda"/>
              <a:ea typeface="Bodoni Moda"/>
              <a:cs typeface="Bodoni Moda"/>
              <a:sym typeface="Bodoni Moda"/>
            </a:endParaRPr>
          </a:p>
        </p:txBody>
      </p:sp>
      <p:cxnSp>
        <p:nvCxnSpPr>
          <p:cNvPr id="227" name="Google Shape;227;p30"/>
          <p:cNvCxnSpPr/>
          <p:nvPr/>
        </p:nvCxnSpPr>
        <p:spPr>
          <a:xfrm>
            <a:off x="1495750" y="2136575"/>
            <a:ext cx="0" cy="1070100"/>
          </a:xfrm>
          <a:prstGeom prst="straightConnector1">
            <a:avLst/>
          </a:prstGeom>
          <a:noFill/>
          <a:ln cap="flat" cmpd="sng" w="9525">
            <a:solidFill>
              <a:srgbClr val="C62F35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28" name="Google Shape;228;p30"/>
          <p:cNvCxnSpPr/>
          <p:nvPr/>
        </p:nvCxnSpPr>
        <p:spPr>
          <a:xfrm>
            <a:off x="2815300" y="2140013"/>
            <a:ext cx="0" cy="1063200"/>
          </a:xfrm>
          <a:prstGeom prst="straightConnector1">
            <a:avLst/>
          </a:prstGeom>
          <a:noFill/>
          <a:ln cap="flat" cmpd="sng" w="9525">
            <a:solidFill>
              <a:srgbClr val="C62F35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29" name="Google Shape;229;p30"/>
          <p:cNvCxnSpPr/>
          <p:nvPr/>
        </p:nvCxnSpPr>
        <p:spPr>
          <a:xfrm>
            <a:off x="3979988" y="2133275"/>
            <a:ext cx="0" cy="1076700"/>
          </a:xfrm>
          <a:prstGeom prst="straightConnector1">
            <a:avLst/>
          </a:prstGeom>
          <a:noFill/>
          <a:ln cap="flat" cmpd="sng" w="9525">
            <a:solidFill>
              <a:srgbClr val="C62F35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30" name="Google Shape;230;p30"/>
          <p:cNvCxnSpPr/>
          <p:nvPr/>
        </p:nvCxnSpPr>
        <p:spPr>
          <a:xfrm>
            <a:off x="5110775" y="2146775"/>
            <a:ext cx="0" cy="1049700"/>
          </a:xfrm>
          <a:prstGeom prst="straightConnector1">
            <a:avLst/>
          </a:prstGeom>
          <a:noFill/>
          <a:ln cap="flat" cmpd="sng" w="9525">
            <a:solidFill>
              <a:srgbClr val="C62F35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31" name="Google Shape;231;p30"/>
          <p:cNvCxnSpPr/>
          <p:nvPr/>
        </p:nvCxnSpPr>
        <p:spPr>
          <a:xfrm>
            <a:off x="3820925" y="826790"/>
            <a:ext cx="5062200" cy="0"/>
          </a:xfrm>
          <a:prstGeom prst="straightConnector1">
            <a:avLst/>
          </a:prstGeom>
          <a:noFill/>
          <a:ln cap="flat" cmpd="sng" w="9525">
            <a:solidFill>
              <a:srgbClr val="C62F3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2" name="Google Shape;232;p30"/>
          <p:cNvSpPr/>
          <p:nvPr/>
        </p:nvSpPr>
        <p:spPr>
          <a:xfrm>
            <a:off x="5882825" y="1435684"/>
            <a:ext cx="10950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3600">
                <a:solidFill>
                  <a:srgbClr val="C62F35"/>
                </a:solidFill>
                <a:latin typeface="Bodoni Moda"/>
                <a:ea typeface="Bodoni Moda"/>
                <a:cs typeface="Bodoni Moda"/>
                <a:sym typeface="Bodoni Moda"/>
              </a:rPr>
              <a:t>5</a:t>
            </a:r>
            <a:endParaRPr b="1" i="1" sz="3600">
              <a:solidFill>
                <a:srgbClr val="C62F35"/>
              </a:solidFill>
              <a:latin typeface="Bodoni Moda"/>
              <a:ea typeface="Bodoni Moda"/>
              <a:cs typeface="Bodoni Moda"/>
              <a:sym typeface="Bodoni Moda"/>
            </a:endParaRPr>
          </a:p>
        </p:txBody>
      </p:sp>
      <p:cxnSp>
        <p:nvCxnSpPr>
          <p:cNvPr id="233" name="Google Shape;233;p30"/>
          <p:cNvCxnSpPr/>
          <p:nvPr/>
        </p:nvCxnSpPr>
        <p:spPr>
          <a:xfrm>
            <a:off x="6430325" y="2146775"/>
            <a:ext cx="0" cy="1049700"/>
          </a:xfrm>
          <a:prstGeom prst="straightConnector1">
            <a:avLst/>
          </a:prstGeom>
          <a:noFill/>
          <a:ln cap="flat" cmpd="sng" w="9525">
            <a:solidFill>
              <a:srgbClr val="C62F35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234" name="Google Shape;234;p30"/>
          <p:cNvSpPr/>
          <p:nvPr/>
        </p:nvSpPr>
        <p:spPr>
          <a:xfrm>
            <a:off x="7329000" y="1435684"/>
            <a:ext cx="10950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3600">
                <a:solidFill>
                  <a:srgbClr val="C62F35"/>
                </a:solidFill>
                <a:latin typeface="Bodoni Moda"/>
                <a:ea typeface="Bodoni Moda"/>
                <a:cs typeface="Bodoni Moda"/>
                <a:sym typeface="Bodoni Moda"/>
              </a:rPr>
              <a:t>6</a:t>
            </a:r>
            <a:endParaRPr b="1" i="1" sz="3600">
              <a:solidFill>
                <a:srgbClr val="C62F35"/>
              </a:solidFill>
              <a:latin typeface="Bodoni Moda"/>
              <a:ea typeface="Bodoni Moda"/>
              <a:cs typeface="Bodoni Moda"/>
              <a:sym typeface="Bodoni Moda"/>
            </a:endParaRPr>
          </a:p>
        </p:txBody>
      </p:sp>
      <p:cxnSp>
        <p:nvCxnSpPr>
          <p:cNvPr id="235" name="Google Shape;235;p30"/>
          <p:cNvCxnSpPr/>
          <p:nvPr/>
        </p:nvCxnSpPr>
        <p:spPr>
          <a:xfrm>
            <a:off x="7876500" y="2146775"/>
            <a:ext cx="0" cy="1049700"/>
          </a:xfrm>
          <a:prstGeom prst="straightConnector1">
            <a:avLst/>
          </a:prstGeom>
          <a:noFill/>
          <a:ln cap="flat" cmpd="sng" w="9525">
            <a:solidFill>
              <a:srgbClr val="C62F35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236" name="Google Shape;236;p30"/>
          <p:cNvSpPr txBox="1"/>
          <p:nvPr/>
        </p:nvSpPr>
        <p:spPr>
          <a:xfrm>
            <a:off x="5677705" y="3322256"/>
            <a:ext cx="154410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1" lang="en-GB" sz="1600">
                <a:solidFill>
                  <a:srgbClr val="C62F35"/>
                </a:solidFill>
                <a:latin typeface="Bodoni Moda"/>
                <a:ea typeface="Bodoni Moda"/>
                <a:cs typeface="Bodoni Moda"/>
                <a:sym typeface="Bodoni Moda"/>
              </a:rPr>
              <a:t>Training</a:t>
            </a:r>
            <a:endParaRPr b="1" i="1" sz="1600">
              <a:solidFill>
                <a:srgbClr val="C62F35"/>
              </a:solidFill>
              <a:latin typeface="Bodoni Moda"/>
              <a:ea typeface="Bodoni Moda"/>
              <a:cs typeface="Bodoni Moda"/>
              <a:sym typeface="Bodoni Moda"/>
            </a:endParaRPr>
          </a:p>
        </p:txBody>
      </p:sp>
      <p:sp>
        <p:nvSpPr>
          <p:cNvPr id="237" name="Google Shape;237;p30"/>
          <p:cNvSpPr txBox="1"/>
          <p:nvPr/>
        </p:nvSpPr>
        <p:spPr>
          <a:xfrm>
            <a:off x="7104455" y="3340281"/>
            <a:ext cx="154410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1" lang="en-GB" sz="1700">
                <a:solidFill>
                  <a:srgbClr val="C62F35"/>
                </a:solidFill>
                <a:latin typeface="Bodoni Moda"/>
                <a:ea typeface="Bodoni Moda"/>
                <a:cs typeface="Bodoni Moda"/>
                <a:sym typeface="Bodoni Moda"/>
              </a:rPr>
              <a:t>Testing</a:t>
            </a:r>
            <a:endParaRPr b="1" i="1" sz="1700">
              <a:solidFill>
                <a:srgbClr val="C62F35"/>
              </a:solidFill>
              <a:latin typeface="Bodoni Moda"/>
              <a:ea typeface="Bodoni Moda"/>
              <a:cs typeface="Bodoni Moda"/>
              <a:sym typeface="Bodoni Mod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1"/>
          <p:cNvSpPr txBox="1"/>
          <p:nvPr/>
        </p:nvSpPr>
        <p:spPr>
          <a:xfrm>
            <a:off x="720000" y="1128450"/>
            <a:ext cx="37938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rgbClr val="C62F35"/>
                </a:solidFill>
                <a:latin typeface="Bodoni Moda"/>
                <a:ea typeface="Bodoni Moda"/>
                <a:cs typeface="Bodoni Moda"/>
                <a:sym typeface="Bodoni Moda"/>
              </a:rPr>
              <a:t>Problem Definition</a:t>
            </a:r>
            <a:endParaRPr b="1" sz="2100">
              <a:solidFill>
                <a:srgbClr val="C62F35"/>
              </a:solidFill>
              <a:latin typeface="Bodoni Moda"/>
              <a:ea typeface="Bodoni Moda"/>
              <a:cs typeface="Bodoni Moda"/>
              <a:sym typeface="Bodoni Moda"/>
            </a:endParaRPr>
          </a:p>
        </p:txBody>
      </p:sp>
      <p:sp>
        <p:nvSpPr>
          <p:cNvPr id="243" name="Google Shape;243;p31"/>
          <p:cNvSpPr txBox="1"/>
          <p:nvPr/>
        </p:nvSpPr>
        <p:spPr>
          <a:xfrm>
            <a:off x="720000" y="1608450"/>
            <a:ext cx="3617100" cy="31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C62F35"/>
              </a:buClr>
              <a:buSzPts val="1600"/>
              <a:buFont typeface="Public Sans"/>
              <a:buChar char="●"/>
            </a:pPr>
            <a:r>
              <a:rPr lang="en-GB" sz="1600">
                <a:solidFill>
                  <a:srgbClr val="C62F35"/>
                </a:solidFill>
                <a:latin typeface="Public Sans"/>
                <a:ea typeface="Public Sans"/>
                <a:cs typeface="Public Sans"/>
                <a:sym typeface="Public Sans"/>
              </a:rPr>
              <a:t>Model must be outlined in order to collect necessary data</a:t>
            </a:r>
            <a:endParaRPr sz="1600">
              <a:solidFill>
                <a:srgbClr val="C62F35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C62F35"/>
              </a:buClr>
              <a:buSzPts val="1600"/>
              <a:buFont typeface="Public Sans"/>
              <a:buChar char="○"/>
            </a:pPr>
            <a:r>
              <a:rPr lang="en-GB" sz="1600">
                <a:solidFill>
                  <a:srgbClr val="C62F35"/>
                </a:solidFill>
                <a:latin typeface="Public Sans"/>
                <a:ea typeface="Public Sans"/>
                <a:cs typeface="Public Sans"/>
                <a:sym typeface="Public Sans"/>
              </a:rPr>
              <a:t>Outline problem</a:t>
            </a:r>
            <a:endParaRPr sz="1600">
              <a:solidFill>
                <a:srgbClr val="C62F35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C62F35"/>
              </a:buClr>
              <a:buSzPts val="1600"/>
              <a:buFont typeface="Public Sans"/>
              <a:buChar char="○"/>
            </a:pPr>
            <a:r>
              <a:rPr lang="en-GB" sz="1600">
                <a:solidFill>
                  <a:srgbClr val="C62F35"/>
                </a:solidFill>
                <a:latin typeface="Public Sans"/>
                <a:ea typeface="Public Sans"/>
                <a:cs typeface="Public Sans"/>
                <a:sym typeface="Public Sans"/>
              </a:rPr>
              <a:t>Reduce dimensions</a:t>
            </a:r>
            <a:endParaRPr sz="1600">
              <a:solidFill>
                <a:srgbClr val="C62F35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rgbClr val="C62F35"/>
              </a:buClr>
              <a:buSzPts val="1600"/>
              <a:buFont typeface="Public Sans"/>
              <a:buChar char="●"/>
            </a:pPr>
            <a:r>
              <a:rPr lang="en-GB" sz="1600">
                <a:solidFill>
                  <a:srgbClr val="C62F35"/>
                </a:solidFill>
                <a:latin typeface="Public Sans"/>
                <a:ea typeface="Public Sans"/>
                <a:cs typeface="Public Sans"/>
                <a:sym typeface="Public Sans"/>
              </a:rPr>
              <a:t>Model can be flawed from conception</a:t>
            </a:r>
            <a:endParaRPr sz="1600">
              <a:solidFill>
                <a:srgbClr val="C62F35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C62F35"/>
              </a:buClr>
              <a:buSzPts val="1600"/>
              <a:buFont typeface="Public Sans"/>
              <a:buChar char="○"/>
            </a:pPr>
            <a:r>
              <a:rPr lang="en-GB" sz="1600">
                <a:solidFill>
                  <a:srgbClr val="C62F35"/>
                </a:solidFill>
                <a:latin typeface="Public Sans"/>
                <a:ea typeface="Public Sans"/>
                <a:cs typeface="Public Sans"/>
                <a:sym typeface="Public Sans"/>
              </a:rPr>
              <a:t>Problem defined through unfair assumptions</a:t>
            </a:r>
            <a:endParaRPr sz="1600">
              <a:solidFill>
                <a:srgbClr val="C62F35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C62F35"/>
              </a:buClr>
              <a:buSzPts val="1600"/>
              <a:buFont typeface="Public Sans"/>
              <a:buChar char="○"/>
            </a:pPr>
            <a:r>
              <a:rPr lang="en-GB" sz="1600">
                <a:solidFill>
                  <a:srgbClr val="C62F35"/>
                </a:solidFill>
                <a:latin typeface="Public Sans"/>
                <a:ea typeface="Public Sans"/>
                <a:cs typeface="Public Sans"/>
                <a:sym typeface="Public Sans"/>
              </a:rPr>
              <a:t>Fairness is not made a goal of the model</a:t>
            </a:r>
            <a:endParaRPr sz="1600">
              <a:solidFill>
                <a:srgbClr val="C62F35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44" name="Google Shape;244;p31"/>
          <p:cNvSpPr txBox="1"/>
          <p:nvPr/>
        </p:nvSpPr>
        <p:spPr>
          <a:xfrm>
            <a:off x="720000" y="450575"/>
            <a:ext cx="77040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200">
                <a:solidFill>
                  <a:srgbClr val="C62F35"/>
                </a:solidFill>
                <a:latin typeface="Bodoni Moda"/>
                <a:ea typeface="Bodoni Moda"/>
                <a:cs typeface="Bodoni Moda"/>
                <a:sym typeface="Bodoni Moda"/>
              </a:rPr>
              <a:t>AI Pipeline Overview</a:t>
            </a:r>
            <a:endParaRPr b="1" sz="3200">
              <a:solidFill>
                <a:srgbClr val="C62F35"/>
              </a:solidFill>
              <a:latin typeface="Bodoni Moda"/>
              <a:ea typeface="Bodoni Moda"/>
              <a:cs typeface="Bodoni Moda"/>
              <a:sym typeface="Bodoni Moda"/>
            </a:endParaRPr>
          </a:p>
        </p:txBody>
      </p:sp>
      <p:sp>
        <p:nvSpPr>
          <p:cNvPr id="245" name="Google Shape;245;p31"/>
          <p:cNvSpPr txBox="1"/>
          <p:nvPr/>
        </p:nvSpPr>
        <p:spPr>
          <a:xfrm>
            <a:off x="4576475" y="1608450"/>
            <a:ext cx="3617100" cy="31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C62F35"/>
              </a:buClr>
              <a:buSzPts val="1600"/>
              <a:buFont typeface="Public Sans"/>
              <a:buChar char="●"/>
            </a:pPr>
            <a:r>
              <a:rPr lang="en-GB" sz="1600">
                <a:solidFill>
                  <a:srgbClr val="C62F35"/>
                </a:solidFill>
                <a:latin typeface="Public Sans"/>
                <a:ea typeface="Public Sans"/>
                <a:cs typeface="Public Sans"/>
                <a:sym typeface="Public Sans"/>
              </a:rPr>
              <a:t>Data often comes from limited or unrepresentative groups</a:t>
            </a:r>
            <a:endParaRPr sz="1600">
              <a:solidFill>
                <a:srgbClr val="C62F35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rgbClr val="C62F35"/>
              </a:buClr>
              <a:buSzPts val="1600"/>
              <a:buFont typeface="Public Sans"/>
              <a:buChar char="●"/>
            </a:pPr>
            <a:r>
              <a:rPr lang="en-GB" sz="1600">
                <a:solidFill>
                  <a:srgbClr val="C62F35"/>
                </a:solidFill>
                <a:latin typeface="Public Sans"/>
                <a:ea typeface="Public Sans"/>
                <a:cs typeface="Public Sans"/>
                <a:sym typeface="Public Sans"/>
              </a:rPr>
              <a:t>Over-reliance on publicly available datasets</a:t>
            </a:r>
            <a:endParaRPr sz="1600">
              <a:solidFill>
                <a:srgbClr val="C62F35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rgbClr val="C62F35"/>
              </a:buClr>
              <a:buSzPts val="1600"/>
              <a:buFont typeface="Public Sans"/>
              <a:buChar char="●"/>
            </a:pPr>
            <a:r>
              <a:rPr lang="en-GB" sz="1600">
                <a:solidFill>
                  <a:srgbClr val="C62F35"/>
                </a:solidFill>
                <a:latin typeface="Public Sans"/>
                <a:ea typeface="Public Sans"/>
                <a:cs typeface="Public Sans"/>
                <a:sym typeface="Public Sans"/>
              </a:rPr>
              <a:t>Consent and transparency issues, most people don’t know their data is included</a:t>
            </a:r>
            <a:endParaRPr sz="1600">
              <a:solidFill>
                <a:srgbClr val="C62F35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C62F35"/>
              </a:buClr>
              <a:buSzPts val="1600"/>
              <a:buFont typeface="Public Sans"/>
              <a:buChar char="●"/>
            </a:pPr>
            <a:r>
              <a:rPr lang="en-GB" sz="1600">
                <a:solidFill>
                  <a:srgbClr val="C62F35"/>
                </a:solidFill>
                <a:latin typeface="Public Sans"/>
                <a:ea typeface="Public Sans"/>
                <a:cs typeface="Public Sans"/>
                <a:sym typeface="Public Sans"/>
              </a:rPr>
              <a:t>Sensitive domains like health and policing often lack diversity</a:t>
            </a:r>
            <a:endParaRPr sz="1600">
              <a:solidFill>
                <a:srgbClr val="C62F35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46" name="Google Shape;246;p31"/>
          <p:cNvSpPr txBox="1"/>
          <p:nvPr/>
        </p:nvSpPr>
        <p:spPr>
          <a:xfrm>
            <a:off x="4513800" y="1128438"/>
            <a:ext cx="37938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rgbClr val="C62F35"/>
                </a:solidFill>
                <a:latin typeface="Bodoni Moda"/>
                <a:ea typeface="Bodoni Moda"/>
                <a:cs typeface="Bodoni Moda"/>
                <a:sym typeface="Bodoni Moda"/>
              </a:rPr>
              <a:t>Data Sourcing</a:t>
            </a:r>
            <a:endParaRPr b="1" sz="3200">
              <a:solidFill>
                <a:srgbClr val="C62F35"/>
              </a:solidFill>
              <a:latin typeface="Bodoni Moda"/>
              <a:ea typeface="Bodoni Moda"/>
              <a:cs typeface="Bodoni Moda"/>
              <a:sym typeface="Bodoni Mod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rgbClr val="C62F35"/>
              </a:solidFill>
              <a:latin typeface="Bodoni Moda"/>
              <a:ea typeface="Bodoni Moda"/>
              <a:cs typeface="Bodoni Moda"/>
              <a:sym typeface="Bodoni Moda"/>
            </a:endParaRPr>
          </a:p>
        </p:txBody>
      </p:sp>
      <p:cxnSp>
        <p:nvCxnSpPr>
          <p:cNvPr id="247" name="Google Shape;247;p31"/>
          <p:cNvCxnSpPr/>
          <p:nvPr/>
        </p:nvCxnSpPr>
        <p:spPr>
          <a:xfrm flipH="1" rot="10800000">
            <a:off x="5338200" y="809850"/>
            <a:ext cx="3544800" cy="15300"/>
          </a:xfrm>
          <a:prstGeom prst="straightConnector1">
            <a:avLst/>
          </a:prstGeom>
          <a:noFill/>
          <a:ln cap="flat" cmpd="sng" w="9525">
            <a:solidFill>
              <a:srgbClr val="C62F35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2"/>
          <p:cNvSpPr txBox="1"/>
          <p:nvPr/>
        </p:nvSpPr>
        <p:spPr>
          <a:xfrm>
            <a:off x="720000" y="1128450"/>
            <a:ext cx="37938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rgbClr val="C62F35"/>
                </a:solidFill>
                <a:latin typeface="Bodoni Moda"/>
                <a:ea typeface="Bodoni Moda"/>
                <a:cs typeface="Bodoni Moda"/>
                <a:sym typeface="Bodoni Moda"/>
              </a:rPr>
              <a:t>Preprocessing</a:t>
            </a:r>
            <a:endParaRPr b="1" sz="2100">
              <a:solidFill>
                <a:srgbClr val="C62F35"/>
              </a:solidFill>
              <a:latin typeface="Bodoni Moda"/>
              <a:ea typeface="Bodoni Moda"/>
              <a:cs typeface="Bodoni Moda"/>
              <a:sym typeface="Bodoni Moda"/>
            </a:endParaRPr>
          </a:p>
        </p:txBody>
      </p:sp>
      <p:sp>
        <p:nvSpPr>
          <p:cNvPr id="253" name="Google Shape;253;p32"/>
          <p:cNvSpPr txBox="1"/>
          <p:nvPr/>
        </p:nvSpPr>
        <p:spPr>
          <a:xfrm>
            <a:off x="720000" y="450575"/>
            <a:ext cx="77040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200">
                <a:solidFill>
                  <a:srgbClr val="C62F35"/>
                </a:solidFill>
                <a:latin typeface="Bodoni Moda"/>
                <a:ea typeface="Bodoni Moda"/>
                <a:cs typeface="Bodoni Moda"/>
                <a:sym typeface="Bodoni Moda"/>
              </a:rPr>
              <a:t>AI Pipeline Overview</a:t>
            </a:r>
            <a:endParaRPr b="1" sz="3200">
              <a:solidFill>
                <a:srgbClr val="C62F35"/>
              </a:solidFill>
              <a:latin typeface="Bodoni Moda"/>
              <a:ea typeface="Bodoni Moda"/>
              <a:cs typeface="Bodoni Moda"/>
              <a:sym typeface="Bodoni Moda"/>
            </a:endParaRPr>
          </a:p>
        </p:txBody>
      </p:sp>
      <p:sp>
        <p:nvSpPr>
          <p:cNvPr id="254" name="Google Shape;254;p32"/>
          <p:cNvSpPr txBox="1"/>
          <p:nvPr/>
        </p:nvSpPr>
        <p:spPr>
          <a:xfrm>
            <a:off x="4576475" y="1608450"/>
            <a:ext cx="4006200" cy="31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C62F35"/>
              </a:buClr>
              <a:buSzPts val="1400"/>
              <a:buFont typeface="Public Sans"/>
              <a:buChar char="●"/>
            </a:pPr>
            <a:r>
              <a:rPr lang="en-GB">
                <a:solidFill>
                  <a:srgbClr val="C62F35"/>
                </a:solidFill>
                <a:latin typeface="Public Sans"/>
                <a:ea typeface="Public Sans"/>
                <a:cs typeface="Public Sans"/>
                <a:sym typeface="Public Sans"/>
              </a:rPr>
              <a:t>The stage where the model learns basic patterns from large, general datasets</a:t>
            </a:r>
            <a:endParaRPr>
              <a:solidFill>
                <a:srgbClr val="C62F35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rgbClr val="C62F35"/>
              </a:buClr>
              <a:buSzPts val="1400"/>
              <a:buFont typeface="Public Sans"/>
              <a:buChar char="●"/>
            </a:pPr>
            <a:r>
              <a:rPr lang="en-GB">
                <a:solidFill>
                  <a:srgbClr val="C62F35"/>
                </a:solidFill>
                <a:latin typeface="Public Sans"/>
                <a:ea typeface="Public Sans"/>
                <a:cs typeface="Public Sans"/>
                <a:sym typeface="Public Sans"/>
              </a:rPr>
              <a:t>Gives the model its “foundation” for understanding language or images</a:t>
            </a:r>
            <a:endParaRPr>
              <a:solidFill>
                <a:srgbClr val="C62F35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rgbClr val="C62F35"/>
              </a:buClr>
              <a:buSzPts val="1400"/>
              <a:buFont typeface="Public Sans"/>
              <a:buChar char="●"/>
            </a:pPr>
            <a:r>
              <a:rPr lang="en-GB">
                <a:solidFill>
                  <a:srgbClr val="C62F35"/>
                </a:solidFill>
                <a:latin typeface="Public Sans"/>
                <a:ea typeface="Public Sans"/>
                <a:cs typeface="Public Sans"/>
                <a:sym typeface="Public Sans"/>
              </a:rPr>
              <a:t>Any bias or low-quality data at this stage becomes part of that foundation</a:t>
            </a:r>
            <a:endParaRPr>
              <a:solidFill>
                <a:srgbClr val="C62F35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rgbClr val="C62F35"/>
              </a:buClr>
              <a:buSzPts val="1400"/>
              <a:buFont typeface="Public Sans"/>
              <a:buChar char="●"/>
            </a:pPr>
            <a:r>
              <a:rPr lang="en-GB">
                <a:solidFill>
                  <a:srgbClr val="C62F35"/>
                </a:solidFill>
                <a:latin typeface="Public Sans"/>
                <a:ea typeface="Public Sans"/>
                <a:cs typeface="Public Sans"/>
                <a:sym typeface="Public Sans"/>
              </a:rPr>
              <a:t>These early biases are very hard to remove later</a:t>
            </a:r>
            <a:endParaRPr>
              <a:solidFill>
                <a:srgbClr val="C62F35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C62F35"/>
              </a:buClr>
              <a:buSzPts val="1400"/>
              <a:buFont typeface="Public Sans"/>
              <a:buChar char="●"/>
            </a:pPr>
            <a:r>
              <a:rPr lang="en-GB">
                <a:solidFill>
                  <a:srgbClr val="C62F35"/>
                </a:solidFill>
                <a:latin typeface="Public Sans"/>
                <a:ea typeface="Public Sans"/>
                <a:cs typeface="Public Sans"/>
                <a:sym typeface="Public Sans"/>
              </a:rPr>
              <a:t>So careful data choice and documentation before pretraining is critical</a:t>
            </a:r>
            <a:endParaRPr>
              <a:solidFill>
                <a:srgbClr val="C62F35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55" name="Google Shape;255;p32"/>
          <p:cNvSpPr txBox="1"/>
          <p:nvPr/>
        </p:nvSpPr>
        <p:spPr>
          <a:xfrm>
            <a:off x="4513800" y="1128438"/>
            <a:ext cx="37938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rgbClr val="C62F35"/>
                </a:solidFill>
                <a:latin typeface="Bodoni Moda"/>
                <a:ea typeface="Bodoni Moda"/>
                <a:cs typeface="Bodoni Moda"/>
                <a:sym typeface="Bodoni Moda"/>
              </a:rPr>
              <a:t>Pretraining</a:t>
            </a:r>
            <a:endParaRPr b="1" sz="2100">
              <a:solidFill>
                <a:srgbClr val="C62F35"/>
              </a:solidFill>
              <a:latin typeface="Bodoni Moda"/>
              <a:ea typeface="Bodoni Moda"/>
              <a:cs typeface="Bodoni Moda"/>
              <a:sym typeface="Bodoni Moda"/>
            </a:endParaRPr>
          </a:p>
        </p:txBody>
      </p:sp>
      <p:sp>
        <p:nvSpPr>
          <p:cNvPr id="256" name="Google Shape;256;p32"/>
          <p:cNvSpPr txBox="1"/>
          <p:nvPr/>
        </p:nvSpPr>
        <p:spPr>
          <a:xfrm>
            <a:off x="720000" y="1608450"/>
            <a:ext cx="3617100" cy="31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C62F35"/>
              </a:buClr>
              <a:buSzPts val="1400"/>
              <a:buFont typeface="Public Sans"/>
              <a:buChar char="●"/>
            </a:pPr>
            <a:r>
              <a:rPr lang="en-GB">
                <a:solidFill>
                  <a:srgbClr val="C62F35"/>
                </a:solidFill>
                <a:latin typeface="Public Sans"/>
                <a:ea typeface="Public Sans"/>
                <a:cs typeface="Public Sans"/>
                <a:sym typeface="Public Sans"/>
              </a:rPr>
              <a:t>Processes collected data</a:t>
            </a:r>
            <a:endParaRPr>
              <a:solidFill>
                <a:srgbClr val="C62F35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62F35"/>
              </a:buClr>
              <a:buSzPts val="1400"/>
              <a:buFont typeface="Public Sans"/>
              <a:buChar char="○"/>
            </a:pPr>
            <a:r>
              <a:rPr lang="en-GB">
                <a:solidFill>
                  <a:srgbClr val="C62F35"/>
                </a:solidFill>
                <a:latin typeface="Public Sans"/>
                <a:ea typeface="Public Sans"/>
                <a:cs typeface="Public Sans"/>
                <a:sym typeface="Public Sans"/>
              </a:rPr>
              <a:t>Cleaning</a:t>
            </a:r>
            <a:endParaRPr>
              <a:solidFill>
                <a:srgbClr val="C62F35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62F35"/>
              </a:buClr>
              <a:buSzPts val="1400"/>
              <a:buFont typeface="Public Sans"/>
              <a:buChar char="○"/>
            </a:pPr>
            <a:r>
              <a:rPr lang="en-GB">
                <a:solidFill>
                  <a:srgbClr val="C62F35"/>
                </a:solidFill>
                <a:latin typeface="Public Sans"/>
                <a:ea typeface="Public Sans"/>
                <a:cs typeface="Public Sans"/>
                <a:sym typeface="Public Sans"/>
              </a:rPr>
              <a:t>Filtering</a:t>
            </a:r>
            <a:endParaRPr>
              <a:solidFill>
                <a:srgbClr val="C62F35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62F35"/>
              </a:buClr>
              <a:buSzPts val="1400"/>
              <a:buFont typeface="Public Sans"/>
              <a:buChar char="○"/>
            </a:pPr>
            <a:r>
              <a:rPr lang="en-GB">
                <a:solidFill>
                  <a:srgbClr val="C62F35"/>
                </a:solidFill>
                <a:latin typeface="Public Sans"/>
                <a:ea typeface="Public Sans"/>
                <a:cs typeface="Public Sans"/>
                <a:sym typeface="Public Sans"/>
              </a:rPr>
              <a:t>Labelling</a:t>
            </a:r>
            <a:endParaRPr>
              <a:solidFill>
                <a:srgbClr val="C62F35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C62F35"/>
              </a:buClr>
              <a:buSzPts val="1400"/>
              <a:buFont typeface="Public Sans"/>
              <a:buChar char="●"/>
            </a:pPr>
            <a:r>
              <a:rPr lang="en-GB">
                <a:solidFill>
                  <a:srgbClr val="C62F35"/>
                </a:solidFill>
                <a:latin typeface="Public Sans"/>
                <a:ea typeface="Public Sans"/>
                <a:cs typeface="Public Sans"/>
                <a:sym typeface="Public Sans"/>
              </a:rPr>
              <a:t>This stage is where many hidden biases enter.</a:t>
            </a:r>
            <a:endParaRPr>
              <a:solidFill>
                <a:srgbClr val="C62F35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62F35"/>
              </a:buClr>
              <a:buSzPts val="1400"/>
              <a:buFont typeface="Public Sans"/>
              <a:buChar char="○"/>
            </a:pPr>
            <a:r>
              <a:rPr lang="en-GB">
                <a:solidFill>
                  <a:srgbClr val="C62F35"/>
                </a:solidFill>
                <a:latin typeface="Public Sans"/>
                <a:ea typeface="Public Sans"/>
                <a:cs typeface="Public Sans"/>
                <a:sym typeface="Public Sans"/>
              </a:rPr>
              <a:t>Labels can reflect cultural assumptions</a:t>
            </a:r>
            <a:endParaRPr>
              <a:solidFill>
                <a:srgbClr val="C62F35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62F35"/>
              </a:buClr>
              <a:buSzPts val="1400"/>
              <a:buFont typeface="Public Sans"/>
              <a:buChar char="○"/>
            </a:pPr>
            <a:r>
              <a:rPr lang="en-GB">
                <a:solidFill>
                  <a:srgbClr val="C62F35"/>
                </a:solidFill>
                <a:latin typeface="Public Sans"/>
                <a:ea typeface="Public Sans"/>
                <a:cs typeface="Public Sans"/>
                <a:sym typeface="Public Sans"/>
              </a:rPr>
              <a:t>Ambiguous data can be mislabeled</a:t>
            </a:r>
            <a:endParaRPr>
              <a:solidFill>
                <a:srgbClr val="C62F35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62F35"/>
              </a:buClr>
              <a:buSzPts val="1400"/>
              <a:buFont typeface="Public Sans"/>
              <a:buChar char="○"/>
            </a:pPr>
            <a:r>
              <a:rPr lang="en-GB">
                <a:solidFill>
                  <a:srgbClr val="C62F35"/>
                </a:solidFill>
                <a:latin typeface="Public Sans"/>
                <a:ea typeface="Public Sans"/>
                <a:cs typeface="Public Sans"/>
                <a:sym typeface="Public Sans"/>
              </a:rPr>
              <a:t>Minority groups are underrepresented and harder to classify</a:t>
            </a:r>
            <a:endParaRPr>
              <a:solidFill>
                <a:srgbClr val="C62F35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cxnSp>
        <p:nvCxnSpPr>
          <p:cNvPr id="257" name="Google Shape;257;p32"/>
          <p:cNvCxnSpPr/>
          <p:nvPr/>
        </p:nvCxnSpPr>
        <p:spPr>
          <a:xfrm flipH="1" rot="10800000">
            <a:off x="5338200" y="809850"/>
            <a:ext cx="3544800" cy="15300"/>
          </a:xfrm>
          <a:prstGeom prst="straightConnector1">
            <a:avLst/>
          </a:prstGeom>
          <a:noFill/>
          <a:ln cap="flat" cmpd="sng" w="9525">
            <a:solidFill>
              <a:srgbClr val="C62F35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3"/>
          <p:cNvSpPr txBox="1"/>
          <p:nvPr/>
        </p:nvSpPr>
        <p:spPr>
          <a:xfrm>
            <a:off x="720000" y="1128450"/>
            <a:ext cx="37938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rgbClr val="C62F35"/>
                </a:solidFill>
                <a:latin typeface="Bodoni Moda"/>
                <a:ea typeface="Bodoni Moda"/>
                <a:cs typeface="Bodoni Moda"/>
                <a:sym typeface="Bodoni Moda"/>
              </a:rPr>
              <a:t>Training</a:t>
            </a:r>
            <a:endParaRPr b="1" sz="2100">
              <a:solidFill>
                <a:srgbClr val="C62F35"/>
              </a:solidFill>
              <a:latin typeface="Bodoni Moda"/>
              <a:ea typeface="Bodoni Moda"/>
              <a:cs typeface="Bodoni Moda"/>
              <a:sym typeface="Bodoni Moda"/>
            </a:endParaRPr>
          </a:p>
        </p:txBody>
      </p:sp>
      <p:sp>
        <p:nvSpPr>
          <p:cNvPr id="263" name="Google Shape;263;p33"/>
          <p:cNvSpPr txBox="1"/>
          <p:nvPr/>
        </p:nvSpPr>
        <p:spPr>
          <a:xfrm>
            <a:off x="720000" y="1608450"/>
            <a:ext cx="3617100" cy="31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C62F35"/>
                </a:solidFill>
                <a:latin typeface="Public Sans"/>
                <a:ea typeface="Public Sans"/>
                <a:cs typeface="Public Sans"/>
                <a:sym typeface="Public Sans"/>
              </a:rPr>
              <a:t>Minimizing loss:</a:t>
            </a:r>
            <a:endParaRPr sz="1600">
              <a:solidFill>
                <a:srgbClr val="C62F35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C62F35"/>
              </a:buClr>
              <a:buSzPts val="1600"/>
              <a:buFont typeface="Public Sans"/>
              <a:buChar char="●"/>
            </a:pPr>
            <a:r>
              <a:rPr lang="en-GB" sz="1600">
                <a:solidFill>
                  <a:srgbClr val="C62F35"/>
                </a:solidFill>
                <a:latin typeface="Public Sans"/>
                <a:ea typeface="Public Sans"/>
                <a:cs typeface="Public Sans"/>
                <a:sym typeface="Public Sans"/>
              </a:rPr>
              <a:t>Fits to the data</a:t>
            </a:r>
            <a:endParaRPr sz="1600">
              <a:solidFill>
                <a:srgbClr val="C62F35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C62F35"/>
              </a:buClr>
              <a:buSzPts val="1600"/>
              <a:buFont typeface="Public Sans"/>
              <a:buChar char="●"/>
            </a:pPr>
            <a:r>
              <a:rPr lang="en-GB" sz="1600">
                <a:solidFill>
                  <a:srgbClr val="C62F35"/>
                </a:solidFill>
                <a:latin typeface="Public Sans"/>
                <a:ea typeface="Public Sans"/>
                <a:cs typeface="Public Sans"/>
                <a:sym typeface="Public Sans"/>
              </a:rPr>
              <a:t>Uses the gradient</a:t>
            </a:r>
            <a:endParaRPr sz="1600">
              <a:solidFill>
                <a:srgbClr val="C62F35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C62F35"/>
              </a:buClr>
              <a:buSzPts val="1600"/>
              <a:buFont typeface="Public Sans"/>
              <a:buChar char="●"/>
            </a:pPr>
            <a:r>
              <a:rPr lang="en-GB" sz="1600">
                <a:solidFill>
                  <a:srgbClr val="C62F35"/>
                </a:solidFill>
                <a:latin typeface="Public Sans"/>
                <a:ea typeface="Public Sans"/>
                <a:cs typeface="Public Sans"/>
                <a:sym typeface="Public Sans"/>
              </a:rPr>
              <a:t>Allows for optimization bias</a:t>
            </a:r>
            <a:endParaRPr sz="1600">
              <a:solidFill>
                <a:srgbClr val="C62F35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C62F35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C62F35"/>
                </a:solidFill>
                <a:latin typeface="Public Sans"/>
                <a:ea typeface="Public Sans"/>
                <a:cs typeface="Public Sans"/>
                <a:sym typeface="Public Sans"/>
              </a:rPr>
              <a:t>Optimization bias:</a:t>
            </a:r>
            <a:endParaRPr sz="1600">
              <a:solidFill>
                <a:srgbClr val="C62F35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C62F35"/>
              </a:buClr>
              <a:buSzPts val="1600"/>
              <a:buFont typeface="Public Sans"/>
              <a:buChar char="●"/>
            </a:pPr>
            <a:r>
              <a:rPr lang="en-GB" sz="1600">
                <a:solidFill>
                  <a:srgbClr val="C62F35"/>
                </a:solidFill>
                <a:latin typeface="Public Sans"/>
                <a:ea typeface="Public Sans"/>
                <a:cs typeface="Public Sans"/>
                <a:sym typeface="Public Sans"/>
              </a:rPr>
              <a:t>Majority favored by gradient</a:t>
            </a:r>
            <a:endParaRPr sz="1600">
              <a:solidFill>
                <a:srgbClr val="C62F35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C62F35"/>
              </a:buClr>
              <a:buSzPts val="1600"/>
              <a:buFont typeface="Public Sans"/>
              <a:buChar char="●"/>
            </a:pPr>
            <a:r>
              <a:rPr lang="en-GB" sz="1600">
                <a:solidFill>
                  <a:srgbClr val="C62F35"/>
                </a:solidFill>
                <a:latin typeface="Public Sans"/>
                <a:ea typeface="Public Sans"/>
                <a:cs typeface="Public Sans"/>
                <a:sym typeface="Public Sans"/>
              </a:rPr>
              <a:t>Skews away from minorities</a:t>
            </a:r>
            <a:endParaRPr sz="1600">
              <a:solidFill>
                <a:srgbClr val="C62F35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C62F35"/>
              </a:buClr>
              <a:buSzPts val="1600"/>
              <a:buFont typeface="Public Sans"/>
              <a:buChar char="●"/>
            </a:pPr>
            <a:r>
              <a:rPr lang="en-GB" sz="1600">
                <a:solidFill>
                  <a:srgbClr val="C62F35"/>
                </a:solidFill>
                <a:latin typeface="Public Sans"/>
                <a:ea typeface="Public Sans"/>
                <a:cs typeface="Public Sans"/>
                <a:sym typeface="Public Sans"/>
              </a:rPr>
              <a:t>Is a shortcut at the cost of fairness.</a:t>
            </a:r>
            <a:endParaRPr sz="1600">
              <a:solidFill>
                <a:srgbClr val="C62F35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64" name="Google Shape;264;p33"/>
          <p:cNvSpPr txBox="1"/>
          <p:nvPr/>
        </p:nvSpPr>
        <p:spPr>
          <a:xfrm>
            <a:off x="720000" y="450575"/>
            <a:ext cx="77040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200">
                <a:solidFill>
                  <a:srgbClr val="C62F35"/>
                </a:solidFill>
                <a:latin typeface="Bodoni Moda"/>
                <a:ea typeface="Bodoni Moda"/>
                <a:cs typeface="Bodoni Moda"/>
                <a:sym typeface="Bodoni Moda"/>
              </a:rPr>
              <a:t>AI Pipeline Overview</a:t>
            </a:r>
            <a:endParaRPr b="1" sz="3200">
              <a:solidFill>
                <a:srgbClr val="C62F35"/>
              </a:solidFill>
              <a:latin typeface="Bodoni Moda"/>
              <a:ea typeface="Bodoni Moda"/>
              <a:cs typeface="Bodoni Moda"/>
              <a:sym typeface="Bodoni Moda"/>
            </a:endParaRPr>
          </a:p>
        </p:txBody>
      </p:sp>
      <p:sp>
        <p:nvSpPr>
          <p:cNvPr id="265" name="Google Shape;265;p33"/>
          <p:cNvSpPr txBox="1"/>
          <p:nvPr/>
        </p:nvSpPr>
        <p:spPr>
          <a:xfrm>
            <a:off x="4576475" y="1608450"/>
            <a:ext cx="3617100" cy="31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C62F35"/>
              </a:buClr>
              <a:buSzPts val="1400"/>
              <a:buFont typeface="Public Sans"/>
              <a:buChar char="●"/>
            </a:pPr>
            <a:r>
              <a:rPr lang="en-GB">
                <a:solidFill>
                  <a:srgbClr val="C62F35"/>
                </a:solidFill>
                <a:latin typeface="Public Sans"/>
                <a:ea typeface="Public Sans"/>
                <a:cs typeface="Public Sans"/>
                <a:sym typeface="Public Sans"/>
              </a:rPr>
              <a:t>Bias and Fairness Testing</a:t>
            </a:r>
            <a:endParaRPr>
              <a:solidFill>
                <a:srgbClr val="C62F35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62F35"/>
              </a:buClr>
              <a:buSzPts val="1400"/>
              <a:buFont typeface="Public Sans"/>
              <a:buChar char="○"/>
            </a:pPr>
            <a:r>
              <a:rPr lang="en-GB">
                <a:solidFill>
                  <a:srgbClr val="C62F35"/>
                </a:solidFill>
                <a:latin typeface="Public Sans"/>
                <a:ea typeface="Public Sans"/>
                <a:cs typeface="Public Sans"/>
                <a:sym typeface="Public Sans"/>
              </a:rPr>
              <a:t>Examines AI predictions</a:t>
            </a:r>
            <a:endParaRPr>
              <a:solidFill>
                <a:srgbClr val="C62F35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62F35"/>
              </a:buClr>
              <a:buSzPts val="1400"/>
              <a:buFont typeface="Public Sans"/>
              <a:buChar char="○"/>
            </a:pPr>
            <a:r>
              <a:rPr lang="en-GB">
                <a:solidFill>
                  <a:srgbClr val="C62F35"/>
                </a:solidFill>
                <a:latin typeface="Public Sans"/>
                <a:ea typeface="Public Sans"/>
                <a:cs typeface="Public Sans"/>
                <a:sym typeface="Public Sans"/>
              </a:rPr>
              <a:t>Ensures no bias in decisions</a:t>
            </a:r>
            <a:endParaRPr>
              <a:solidFill>
                <a:srgbClr val="C62F35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C62F35"/>
              </a:buClr>
              <a:buSzPts val="1400"/>
              <a:buFont typeface="Public Sans"/>
              <a:buChar char="●"/>
            </a:pPr>
            <a:r>
              <a:rPr lang="en-GB">
                <a:solidFill>
                  <a:srgbClr val="C62F35"/>
                </a:solidFill>
                <a:latin typeface="Public Sans"/>
                <a:ea typeface="Public Sans"/>
                <a:cs typeface="Public Sans"/>
                <a:sym typeface="Public Sans"/>
              </a:rPr>
              <a:t>Overfitting</a:t>
            </a:r>
            <a:endParaRPr>
              <a:solidFill>
                <a:srgbClr val="C62F35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62F35"/>
              </a:buClr>
              <a:buSzPts val="1400"/>
              <a:buFont typeface="Public Sans"/>
              <a:buChar char="○"/>
            </a:pPr>
            <a:r>
              <a:rPr lang="en-GB">
                <a:solidFill>
                  <a:srgbClr val="C62F35"/>
                </a:solidFill>
                <a:latin typeface="Public Sans"/>
                <a:ea typeface="Public Sans"/>
                <a:cs typeface="Public Sans"/>
                <a:sym typeface="Public Sans"/>
              </a:rPr>
              <a:t>“Teaching to the Test”</a:t>
            </a:r>
            <a:endParaRPr>
              <a:solidFill>
                <a:srgbClr val="C62F35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62F35"/>
              </a:buClr>
              <a:buSzPts val="1400"/>
              <a:buFont typeface="Public Sans"/>
              <a:buChar char="○"/>
            </a:pPr>
            <a:r>
              <a:rPr lang="en-GB">
                <a:solidFill>
                  <a:srgbClr val="C62F35"/>
                </a:solidFill>
                <a:latin typeface="Public Sans"/>
                <a:ea typeface="Public Sans"/>
                <a:cs typeface="Public Sans"/>
                <a:sym typeface="Public Sans"/>
              </a:rPr>
              <a:t>Model handles test cases perfectly, can’t adapt to new data</a:t>
            </a:r>
            <a:endParaRPr>
              <a:solidFill>
                <a:srgbClr val="C62F35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62F35"/>
              </a:buClr>
              <a:buSzPts val="1400"/>
              <a:buFont typeface="Public Sans"/>
              <a:buChar char="○"/>
            </a:pPr>
            <a:r>
              <a:rPr lang="en-GB">
                <a:solidFill>
                  <a:srgbClr val="C62F35"/>
                </a:solidFill>
                <a:latin typeface="Public Sans"/>
                <a:ea typeface="Public Sans"/>
                <a:cs typeface="Public Sans"/>
                <a:sym typeface="Public Sans"/>
              </a:rPr>
              <a:t>Separate test cases must be set aside</a:t>
            </a:r>
            <a:endParaRPr>
              <a:solidFill>
                <a:srgbClr val="C62F35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66" name="Google Shape;266;p33"/>
          <p:cNvSpPr txBox="1"/>
          <p:nvPr/>
        </p:nvSpPr>
        <p:spPr>
          <a:xfrm>
            <a:off x="4513800" y="1128438"/>
            <a:ext cx="37938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rgbClr val="C62F35"/>
                </a:solidFill>
                <a:latin typeface="Bodoni Moda"/>
                <a:ea typeface="Bodoni Moda"/>
                <a:cs typeface="Bodoni Moda"/>
                <a:sym typeface="Bodoni Moda"/>
              </a:rPr>
              <a:t>Testing</a:t>
            </a:r>
            <a:endParaRPr b="1" sz="2100">
              <a:solidFill>
                <a:srgbClr val="C62F35"/>
              </a:solidFill>
              <a:latin typeface="Bodoni Moda"/>
              <a:ea typeface="Bodoni Moda"/>
              <a:cs typeface="Bodoni Moda"/>
              <a:sym typeface="Bodoni Mod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C62F35"/>
              </a:solidFill>
              <a:latin typeface="Bodoni Moda"/>
              <a:ea typeface="Bodoni Moda"/>
              <a:cs typeface="Bodoni Moda"/>
              <a:sym typeface="Bodoni Mod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rgbClr val="C62F35"/>
              </a:solidFill>
              <a:latin typeface="Bodoni Moda"/>
              <a:ea typeface="Bodoni Moda"/>
              <a:cs typeface="Bodoni Moda"/>
              <a:sym typeface="Bodoni Moda"/>
            </a:endParaRPr>
          </a:p>
        </p:txBody>
      </p:sp>
      <p:cxnSp>
        <p:nvCxnSpPr>
          <p:cNvPr id="267" name="Google Shape;267;p33"/>
          <p:cNvCxnSpPr/>
          <p:nvPr/>
        </p:nvCxnSpPr>
        <p:spPr>
          <a:xfrm flipH="1" rot="10800000">
            <a:off x="5338200" y="809850"/>
            <a:ext cx="3544800" cy="15300"/>
          </a:xfrm>
          <a:prstGeom prst="straightConnector1">
            <a:avLst/>
          </a:prstGeom>
          <a:noFill/>
          <a:ln cap="flat" cmpd="sng" w="9525">
            <a:solidFill>
              <a:srgbClr val="C62F35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4"/>
          <p:cNvSpPr txBox="1"/>
          <p:nvPr/>
        </p:nvSpPr>
        <p:spPr>
          <a:xfrm>
            <a:off x="720000" y="307125"/>
            <a:ext cx="7704000" cy="9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700">
                <a:solidFill>
                  <a:srgbClr val="C62F35"/>
                </a:solidFill>
                <a:latin typeface="Bodoni Moda"/>
                <a:ea typeface="Bodoni Moda"/>
                <a:cs typeface="Bodoni Moda"/>
                <a:sym typeface="Bodoni Moda"/>
              </a:rPr>
              <a:t>Managing Bias in the AI Pipeline: </a:t>
            </a:r>
            <a:endParaRPr b="1" sz="2700">
              <a:solidFill>
                <a:srgbClr val="C62F35"/>
              </a:solidFill>
              <a:latin typeface="Bodoni Moda"/>
              <a:ea typeface="Bodoni Moda"/>
              <a:cs typeface="Bodoni Moda"/>
              <a:sym typeface="Bodoni Mod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700">
                <a:solidFill>
                  <a:srgbClr val="C62F35"/>
                </a:solidFill>
                <a:latin typeface="Bodoni Moda"/>
                <a:ea typeface="Bodoni Moda"/>
                <a:cs typeface="Bodoni Moda"/>
                <a:sym typeface="Bodoni Moda"/>
              </a:rPr>
              <a:t>Ongoing, Not One-Time</a:t>
            </a:r>
            <a:endParaRPr b="1" sz="2700">
              <a:solidFill>
                <a:srgbClr val="C62F35"/>
              </a:solidFill>
              <a:latin typeface="Bodoni Moda"/>
              <a:ea typeface="Bodoni Moda"/>
              <a:cs typeface="Bodoni Moda"/>
              <a:sym typeface="Bodoni Moda"/>
            </a:endParaRPr>
          </a:p>
        </p:txBody>
      </p:sp>
      <p:grpSp>
        <p:nvGrpSpPr>
          <p:cNvPr id="273" name="Google Shape;273;p34"/>
          <p:cNvGrpSpPr/>
          <p:nvPr/>
        </p:nvGrpSpPr>
        <p:grpSpPr>
          <a:xfrm>
            <a:off x="719998" y="1453017"/>
            <a:ext cx="6640020" cy="3199300"/>
            <a:chOff x="6836957" y="2068734"/>
            <a:chExt cx="1496545" cy="721067"/>
          </a:xfrm>
        </p:grpSpPr>
        <p:sp>
          <p:nvSpPr>
            <p:cNvPr id="274" name="Google Shape;274;p34"/>
            <p:cNvSpPr/>
            <p:nvPr/>
          </p:nvSpPr>
          <p:spPr>
            <a:xfrm>
              <a:off x="7172287" y="2569474"/>
              <a:ext cx="1161215" cy="141603"/>
            </a:xfrm>
            <a:custGeom>
              <a:rect b="b" l="l" r="r" t="t"/>
              <a:pathLst>
                <a:path extrusionOk="0" fill="none" h="33338" w="105517">
                  <a:moveTo>
                    <a:pt x="8231" y="0"/>
                  </a:moveTo>
                  <a:cubicBezTo>
                    <a:pt x="6610" y="2526"/>
                    <a:pt x="5253" y="5215"/>
                    <a:pt x="4198" y="8042"/>
                  </a:cubicBezTo>
                  <a:cubicBezTo>
                    <a:pt x="3205" y="10656"/>
                    <a:pt x="2803" y="13182"/>
                    <a:pt x="2803" y="14991"/>
                  </a:cubicBezTo>
                  <a:cubicBezTo>
                    <a:pt x="2790" y="18636"/>
                    <a:pt x="2840" y="21274"/>
                    <a:pt x="1" y="23008"/>
                  </a:cubicBezTo>
                  <a:cubicBezTo>
                    <a:pt x="164" y="23549"/>
                    <a:pt x="239" y="24114"/>
                    <a:pt x="227" y="24667"/>
                  </a:cubicBezTo>
                  <a:lnTo>
                    <a:pt x="227" y="33338"/>
                  </a:lnTo>
                  <a:lnTo>
                    <a:pt x="105517" y="33338"/>
                  </a:lnTo>
                  <a:lnTo>
                    <a:pt x="105517" y="0"/>
                  </a:lnTo>
                  <a:close/>
                </a:path>
              </a:pathLst>
            </a:custGeom>
            <a:noFill/>
            <a:ln cap="flat" cmpd="sng" w="76200">
              <a:solidFill>
                <a:srgbClr val="374F66"/>
              </a:solidFill>
              <a:prstDash val="solid"/>
              <a:miter lim="12565"/>
              <a:headEnd len="sm" w="sm" type="none"/>
              <a:tailEnd len="sm" w="sm" type="none"/>
            </a:ln>
          </p:spPr>
          <p:txBody>
            <a:bodyPr anchorCtr="0" anchor="ctr" bIns="405650" lIns="405650" spcFirstLastPara="1" rIns="405650" wrap="square" tIns="40565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Pre-processing: </a:t>
              </a:r>
              <a:r>
                <a:rPr lang="en-GB" sz="90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Check representation, detect biased features, re-balance data</a:t>
              </a:r>
              <a:endParaRPr sz="900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Pre-training: </a:t>
              </a:r>
              <a:r>
                <a:rPr lang="en-GB" sz="90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Document data sources, benchmark base model, filter harmful patterns</a:t>
              </a:r>
              <a:endParaRPr sz="900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Model training and evaluation: </a:t>
              </a:r>
              <a:r>
                <a:rPr lang="en-GB" sz="90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Compare groups, stress-test fairness, monitor and retrain over time</a:t>
              </a:r>
              <a:endParaRPr sz="900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75" name="Google Shape;275;p34"/>
            <p:cNvSpPr/>
            <p:nvPr/>
          </p:nvSpPr>
          <p:spPr>
            <a:xfrm>
              <a:off x="7236110" y="2321671"/>
              <a:ext cx="790756" cy="212696"/>
            </a:xfrm>
            <a:custGeom>
              <a:rect b="b" l="l" r="r" t="t"/>
              <a:pathLst>
                <a:path extrusionOk="0" fill="none" h="33351" w="87473">
                  <a:moveTo>
                    <a:pt x="15181" y="0"/>
                  </a:moveTo>
                  <a:cubicBezTo>
                    <a:pt x="12114" y="11913"/>
                    <a:pt x="6975" y="23210"/>
                    <a:pt x="1" y="33350"/>
                  </a:cubicBezTo>
                  <a:lnTo>
                    <a:pt x="87472" y="33350"/>
                  </a:lnTo>
                  <a:lnTo>
                    <a:pt x="87472" y="0"/>
                  </a:lnTo>
                  <a:close/>
                </a:path>
              </a:pathLst>
            </a:custGeom>
            <a:noFill/>
            <a:ln cap="flat" cmpd="sng" w="76200">
              <a:solidFill>
                <a:srgbClr val="4F677B"/>
              </a:solidFill>
              <a:prstDash val="solid"/>
              <a:miter lim="12565"/>
              <a:headEnd len="sm" w="sm" type="none"/>
              <a:tailEnd len="sm" w="sm" type="none"/>
            </a:ln>
          </p:spPr>
          <p:txBody>
            <a:bodyPr anchorCtr="0" anchor="ctr" bIns="405650" lIns="405650" spcFirstLastPara="1" rIns="405650" wrap="square" tIns="4056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         Not “perfectly unbiased AI,” but </a:t>
              </a:r>
              <a:r>
                <a:rPr b="1" lang="en-GB" sz="110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reducing   </a:t>
              </a:r>
              <a:endParaRPr b="1" sz="1100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          harmful bias</a:t>
              </a:r>
              <a:r>
                <a:rPr lang="en-GB" sz="110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 and </a:t>
              </a:r>
              <a:r>
                <a:rPr b="1" lang="en-GB" sz="110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catching it early and </a:t>
              </a:r>
              <a:endParaRPr b="1" sz="1100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          repeatedly</a:t>
              </a:r>
              <a:r>
                <a:rPr lang="en-GB" sz="110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 in the pipeline.</a:t>
              </a:r>
              <a:endParaRPr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76" name="Google Shape;276;p34"/>
            <p:cNvSpPr/>
            <p:nvPr/>
          </p:nvSpPr>
          <p:spPr>
            <a:xfrm>
              <a:off x="7232349" y="2068738"/>
              <a:ext cx="855342" cy="208533"/>
            </a:xfrm>
            <a:custGeom>
              <a:rect b="b" l="l" r="r" t="t"/>
              <a:pathLst>
                <a:path extrusionOk="0" fill="none" h="33352" w="78060">
                  <a:moveTo>
                    <a:pt x="0" y="1"/>
                  </a:moveTo>
                  <a:cubicBezTo>
                    <a:pt x="7288" y="9714"/>
                    <a:pt x="11762" y="21250"/>
                    <a:pt x="12918" y="33351"/>
                  </a:cubicBezTo>
                  <a:lnTo>
                    <a:pt x="78060" y="33351"/>
                  </a:lnTo>
                  <a:lnTo>
                    <a:pt x="78060" y="1"/>
                  </a:lnTo>
                  <a:close/>
                </a:path>
              </a:pathLst>
            </a:custGeom>
            <a:noFill/>
            <a:ln cap="flat" cmpd="sng" w="76200">
              <a:solidFill>
                <a:srgbClr val="B3C3CE"/>
              </a:solidFill>
              <a:prstDash val="solid"/>
              <a:miter lim="12565"/>
              <a:headEnd len="sm" w="sm" type="none"/>
              <a:tailEnd len="sm" w="sm" type="none"/>
            </a:ln>
          </p:spPr>
          <p:txBody>
            <a:bodyPr anchorCtr="0" anchor="ctr" bIns="405650" lIns="405650" spcFirstLastPara="1" rIns="405650" wrap="square" tIns="405650">
              <a:noAutofit/>
            </a:bodyPr>
            <a:lstStyle/>
            <a:p>
              <a:pPr indent="0" lvl="0" marL="0" rtl="0" algn="ctr">
                <a:lnSpc>
                  <a:spcPct val="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91">
                  <a:solidFill>
                    <a:srgbClr val="191919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         AI is built by humans using human </a:t>
              </a:r>
              <a:endParaRPr sz="1391">
                <a:solidFill>
                  <a:srgbClr val="191919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  <a:p>
              <a:pPr indent="0" lvl="0" marL="0" rtl="0" algn="ctr">
                <a:lnSpc>
                  <a:spcPct val="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91">
                <a:solidFill>
                  <a:srgbClr val="191919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  <a:p>
              <a:pPr indent="0" lvl="0" marL="0" rtl="0" algn="ctr">
                <a:lnSpc>
                  <a:spcPct val="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91">
                  <a:solidFill>
                    <a:srgbClr val="191919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data, so some bias will always exist.</a:t>
              </a:r>
              <a:endParaRPr sz="1391">
                <a:solidFill>
                  <a:srgbClr val="191919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  <a:p>
              <a:pPr indent="0" lvl="0" marL="0" rtl="0" algn="ctr">
                <a:lnSpc>
                  <a:spcPct val="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91">
                <a:solidFill>
                  <a:srgbClr val="191919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  <a:p>
              <a:pPr indent="0" lvl="0" marL="0" rtl="0" algn="ctr">
                <a:lnSpc>
                  <a:spcPct val="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84">
                <a:solidFill>
                  <a:srgbClr val="191919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  <a:p>
              <a:pPr indent="0" lvl="0" marL="0" rtl="0" algn="ctr">
                <a:lnSpc>
                  <a:spcPct val="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77">
                  <a:solidFill>
                    <a:srgbClr val="191919"/>
                  </a:solidFill>
                  <a:latin typeface="Quantico"/>
                  <a:ea typeface="Quantico"/>
                  <a:cs typeface="Quantico"/>
                  <a:sym typeface="Quantico"/>
                </a:rPr>
                <a:t>Society development →New Bias</a:t>
              </a:r>
              <a:endParaRPr sz="1177">
                <a:solidFill>
                  <a:srgbClr val="191919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  <p:grpSp>
          <p:nvGrpSpPr>
            <p:cNvPr id="277" name="Google Shape;277;p34"/>
            <p:cNvGrpSpPr/>
            <p:nvPr/>
          </p:nvGrpSpPr>
          <p:grpSpPr>
            <a:xfrm>
              <a:off x="6836957" y="2068734"/>
              <a:ext cx="461892" cy="721067"/>
              <a:chOff x="6836957" y="2068734"/>
              <a:chExt cx="461892" cy="721067"/>
            </a:xfrm>
          </p:grpSpPr>
          <p:sp>
            <p:nvSpPr>
              <p:cNvPr id="278" name="Google Shape;278;p34"/>
              <p:cNvSpPr/>
              <p:nvPr/>
            </p:nvSpPr>
            <p:spPr>
              <a:xfrm>
                <a:off x="6996059" y="2711098"/>
                <a:ext cx="143729" cy="78703"/>
              </a:xfrm>
              <a:custGeom>
                <a:rect b="b" l="l" r="r" t="t"/>
                <a:pathLst>
                  <a:path extrusionOk="0" fill="none" h="22632" w="41331">
                    <a:moveTo>
                      <a:pt x="20659" y="22632"/>
                    </a:moveTo>
                    <a:lnTo>
                      <a:pt x="20659" y="22632"/>
                    </a:lnTo>
                    <a:cubicBezTo>
                      <a:pt x="19252" y="22632"/>
                      <a:pt x="1" y="15658"/>
                      <a:pt x="1" y="5253"/>
                    </a:cubicBezTo>
                    <a:lnTo>
                      <a:pt x="1" y="0"/>
                    </a:lnTo>
                    <a:lnTo>
                      <a:pt x="41318" y="0"/>
                    </a:lnTo>
                    <a:lnTo>
                      <a:pt x="41318" y="5253"/>
                    </a:lnTo>
                    <a:cubicBezTo>
                      <a:pt x="41330" y="14125"/>
                      <a:pt x="22079" y="22632"/>
                      <a:pt x="20659" y="22632"/>
                    </a:cubicBezTo>
                    <a:close/>
                  </a:path>
                </a:pathLst>
              </a:custGeom>
              <a:noFill/>
              <a:ln cap="flat" cmpd="sng" w="42275">
                <a:solidFill>
                  <a:srgbClr val="E3E7EA"/>
                </a:solidFill>
                <a:prstDash val="solid"/>
                <a:miter lim="12565"/>
                <a:headEnd len="sm" w="sm" type="none"/>
                <a:tailEnd len="sm" w="sm" type="none"/>
              </a:ln>
            </p:spPr>
            <p:txBody>
              <a:bodyPr anchorCtr="0" anchor="ctr" bIns="405650" lIns="405650" spcFirstLastPara="1" rIns="405650" wrap="square" tIns="405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" name="Google Shape;279;p34"/>
              <p:cNvSpPr/>
              <p:nvPr/>
            </p:nvSpPr>
            <p:spPr>
              <a:xfrm>
                <a:off x="6996059" y="2647693"/>
                <a:ext cx="143683" cy="88753"/>
              </a:xfrm>
              <a:custGeom>
                <a:rect b="b" l="l" r="r" t="t"/>
                <a:pathLst>
                  <a:path extrusionOk="0" fill="none" h="25522" w="41318">
                    <a:moveTo>
                      <a:pt x="667" y="0"/>
                    </a:moveTo>
                    <a:lnTo>
                      <a:pt x="40652" y="0"/>
                    </a:lnTo>
                    <a:cubicBezTo>
                      <a:pt x="41016" y="0"/>
                      <a:pt x="41318" y="980"/>
                      <a:pt x="41318" y="2199"/>
                    </a:cubicBezTo>
                    <a:lnTo>
                      <a:pt x="41318" y="23323"/>
                    </a:lnTo>
                    <a:cubicBezTo>
                      <a:pt x="41318" y="24542"/>
                      <a:pt x="41016" y="25522"/>
                      <a:pt x="40652" y="25522"/>
                    </a:cubicBezTo>
                    <a:lnTo>
                      <a:pt x="667" y="25522"/>
                    </a:lnTo>
                    <a:cubicBezTo>
                      <a:pt x="302" y="25522"/>
                      <a:pt x="1" y="24542"/>
                      <a:pt x="1" y="23323"/>
                    </a:cubicBezTo>
                    <a:lnTo>
                      <a:pt x="1" y="2187"/>
                    </a:lnTo>
                    <a:cubicBezTo>
                      <a:pt x="1" y="980"/>
                      <a:pt x="302" y="0"/>
                      <a:pt x="667" y="0"/>
                    </a:cubicBezTo>
                    <a:close/>
                  </a:path>
                </a:pathLst>
              </a:custGeom>
              <a:noFill/>
              <a:ln cap="flat" cmpd="sng" w="42275">
                <a:solidFill>
                  <a:srgbClr val="E3E7EA"/>
                </a:solidFill>
                <a:prstDash val="solid"/>
                <a:miter lim="12565"/>
                <a:headEnd len="sm" w="sm" type="none"/>
                <a:tailEnd len="sm" w="sm" type="none"/>
              </a:ln>
            </p:spPr>
            <p:txBody>
              <a:bodyPr anchorCtr="0" anchor="ctr" bIns="405650" lIns="405650" spcFirstLastPara="1" rIns="405650" wrap="square" tIns="405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" name="Google Shape;280;p34"/>
              <p:cNvSpPr/>
              <p:nvPr/>
            </p:nvSpPr>
            <p:spPr>
              <a:xfrm>
                <a:off x="6990467" y="2723683"/>
                <a:ext cx="154870" cy="12721"/>
              </a:xfrm>
              <a:custGeom>
                <a:rect b="b" l="l" r="r" t="t"/>
                <a:pathLst>
                  <a:path extrusionOk="0" fill="none" h="3658" w="44535">
                    <a:moveTo>
                      <a:pt x="327" y="0"/>
                    </a:moveTo>
                    <a:lnTo>
                      <a:pt x="44207" y="0"/>
                    </a:lnTo>
                    <a:cubicBezTo>
                      <a:pt x="44383" y="0"/>
                      <a:pt x="44534" y="139"/>
                      <a:pt x="44534" y="327"/>
                    </a:cubicBezTo>
                    <a:lnTo>
                      <a:pt x="44534" y="3343"/>
                    </a:lnTo>
                    <a:cubicBezTo>
                      <a:pt x="44534" y="3519"/>
                      <a:pt x="44383" y="3657"/>
                      <a:pt x="44207" y="3657"/>
                    </a:cubicBezTo>
                    <a:lnTo>
                      <a:pt x="327" y="3657"/>
                    </a:lnTo>
                    <a:cubicBezTo>
                      <a:pt x="151" y="3657"/>
                      <a:pt x="0" y="3519"/>
                      <a:pt x="0" y="3343"/>
                    </a:cubicBezTo>
                    <a:lnTo>
                      <a:pt x="0" y="327"/>
                    </a:lnTo>
                    <a:cubicBezTo>
                      <a:pt x="0" y="139"/>
                      <a:pt x="151" y="0"/>
                      <a:pt x="327" y="0"/>
                    </a:cubicBezTo>
                    <a:close/>
                  </a:path>
                </a:pathLst>
              </a:custGeom>
              <a:noFill/>
              <a:ln cap="flat" cmpd="sng" w="42275">
                <a:solidFill>
                  <a:srgbClr val="EEF0F2"/>
                </a:solidFill>
                <a:prstDash val="solid"/>
                <a:miter lim="12565"/>
                <a:headEnd len="sm" w="sm" type="none"/>
                <a:tailEnd len="sm" w="sm" type="none"/>
              </a:ln>
            </p:spPr>
            <p:txBody>
              <a:bodyPr anchorCtr="0" anchor="ctr" bIns="405650" lIns="405650" spcFirstLastPara="1" rIns="405650" wrap="square" tIns="405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" name="Google Shape;281;p34"/>
              <p:cNvSpPr/>
              <p:nvPr/>
            </p:nvSpPr>
            <p:spPr>
              <a:xfrm>
                <a:off x="6990467" y="2698339"/>
                <a:ext cx="154870" cy="12762"/>
              </a:xfrm>
              <a:custGeom>
                <a:rect b="b" l="l" r="r" t="t"/>
                <a:pathLst>
                  <a:path extrusionOk="0" fill="none" h="3670" w="44535">
                    <a:moveTo>
                      <a:pt x="42700" y="3669"/>
                    </a:moveTo>
                    <a:lnTo>
                      <a:pt x="1835" y="3669"/>
                    </a:lnTo>
                    <a:cubicBezTo>
                      <a:pt x="830" y="3657"/>
                      <a:pt x="13" y="2840"/>
                      <a:pt x="0" y="1835"/>
                    </a:cubicBezTo>
                    <a:lnTo>
                      <a:pt x="0" y="1835"/>
                    </a:lnTo>
                    <a:cubicBezTo>
                      <a:pt x="13" y="817"/>
                      <a:pt x="830" y="0"/>
                      <a:pt x="1835" y="0"/>
                    </a:cubicBezTo>
                    <a:lnTo>
                      <a:pt x="42700" y="0"/>
                    </a:lnTo>
                    <a:cubicBezTo>
                      <a:pt x="43717" y="0"/>
                      <a:pt x="44534" y="817"/>
                      <a:pt x="44534" y="1835"/>
                    </a:cubicBezTo>
                    <a:lnTo>
                      <a:pt x="44534" y="1835"/>
                    </a:lnTo>
                    <a:cubicBezTo>
                      <a:pt x="44534" y="2840"/>
                      <a:pt x="43717" y="3657"/>
                      <a:pt x="42700" y="3669"/>
                    </a:cubicBezTo>
                    <a:close/>
                  </a:path>
                </a:pathLst>
              </a:custGeom>
              <a:noFill/>
              <a:ln cap="flat" cmpd="sng" w="42275">
                <a:solidFill>
                  <a:srgbClr val="EEF0F2"/>
                </a:solidFill>
                <a:prstDash val="solid"/>
                <a:miter lim="12565"/>
                <a:headEnd len="sm" w="sm" type="none"/>
                <a:tailEnd len="sm" w="sm" type="none"/>
              </a:ln>
            </p:spPr>
            <p:txBody>
              <a:bodyPr anchorCtr="0" anchor="ctr" bIns="405650" lIns="405650" spcFirstLastPara="1" rIns="405650" wrap="square" tIns="405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" name="Google Shape;282;p34"/>
              <p:cNvSpPr/>
              <p:nvPr/>
            </p:nvSpPr>
            <p:spPr>
              <a:xfrm>
                <a:off x="6990467" y="2647648"/>
                <a:ext cx="154870" cy="12762"/>
              </a:xfrm>
              <a:custGeom>
                <a:rect b="b" l="l" r="r" t="t"/>
                <a:pathLst>
                  <a:path extrusionOk="0" fill="none" h="3670" w="44535">
                    <a:moveTo>
                      <a:pt x="42700" y="3670"/>
                    </a:moveTo>
                    <a:lnTo>
                      <a:pt x="1835" y="3670"/>
                    </a:lnTo>
                    <a:cubicBezTo>
                      <a:pt x="830" y="3670"/>
                      <a:pt x="13" y="2853"/>
                      <a:pt x="0" y="1835"/>
                    </a:cubicBezTo>
                    <a:lnTo>
                      <a:pt x="0" y="1835"/>
                    </a:lnTo>
                    <a:cubicBezTo>
                      <a:pt x="13" y="830"/>
                      <a:pt x="830" y="13"/>
                      <a:pt x="1835" y="1"/>
                    </a:cubicBezTo>
                    <a:lnTo>
                      <a:pt x="42700" y="1"/>
                    </a:lnTo>
                    <a:cubicBezTo>
                      <a:pt x="43717" y="13"/>
                      <a:pt x="44534" y="830"/>
                      <a:pt x="44534" y="1835"/>
                    </a:cubicBezTo>
                    <a:lnTo>
                      <a:pt x="44534" y="1835"/>
                    </a:lnTo>
                    <a:cubicBezTo>
                      <a:pt x="44534" y="2853"/>
                      <a:pt x="43717" y="3670"/>
                      <a:pt x="42700" y="3670"/>
                    </a:cubicBezTo>
                    <a:close/>
                  </a:path>
                </a:pathLst>
              </a:custGeom>
              <a:noFill/>
              <a:ln cap="flat" cmpd="sng" w="42275">
                <a:solidFill>
                  <a:srgbClr val="EEF0F2"/>
                </a:solidFill>
                <a:prstDash val="solid"/>
                <a:miter lim="12565"/>
                <a:headEnd len="sm" w="sm" type="none"/>
                <a:tailEnd len="sm" w="sm" type="none"/>
              </a:ln>
            </p:spPr>
            <p:txBody>
              <a:bodyPr anchorCtr="0" anchor="ctr" bIns="405650" lIns="405650" spcFirstLastPara="1" rIns="405650" wrap="square" tIns="405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" name="Google Shape;283;p34"/>
              <p:cNvSpPr/>
              <p:nvPr/>
            </p:nvSpPr>
            <p:spPr>
              <a:xfrm>
                <a:off x="6990467" y="2672992"/>
                <a:ext cx="154870" cy="12766"/>
              </a:xfrm>
              <a:custGeom>
                <a:rect b="b" l="l" r="r" t="t"/>
                <a:pathLst>
                  <a:path extrusionOk="0" fill="none" h="3671" w="44535">
                    <a:moveTo>
                      <a:pt x="42700" y="3670"/>
                    </a:moveTo>
                    <a:lnTo>
                      <a:pt x="1835" y="3670"/>
                    </a:lnTo>
                    <a:cubicBezTo>
                      <a:pt x="817" y="3670"/>
                      <a:pt x="0" y="2841"/>
                      <a:pt x="0" y="1836"/>
                    </a:cubicBezTo>
                    <a:lnTo>
                      <a:pt x="0" y="1836"/>
                    </a:lnTo>
                    <a:cubicBezTo>
                      <a:pt x="13" y="818"/>
                      <a:pt x="830" y="1"/>
                      <a:pt x="1835" y="1"/>
                    </a:cubicBezTo>
                    <a:lnTo>
                      <a:pt x="42700" y="1"/>
                    </a:lnTo>
                    <a:cubicBezTo>
                      <a:pt x="43717" y="1"/>
                      <a:pt x="44534" y="818"/>
                      <a:pt x="44534" y="1836"/>
                    </a:cubicBezTo>
                    <a:lnTo>
                      <a:pt x="44534" y="1836"/>
                    </a:lnTo>
                    <a:cubicBezTo>
                      <a:pt x="44534" y="2841"/>
                      <a:pt x="43717" y="3670"/>
                      <a:pt x="42700" y="3670"/>
                    </a:cubicBezTo>
                    <a:close/>
                  </a:path>
                </a:pathLst>
              </a:custGeom>
              <a:noFill/>
              <a:ln cap="flat" cmpd="sng" w="42275">
                <a:solidFill>
                  <a:srgbClr val="EEF0F2"/>
                </a:solidFill>
                <a:prstDash val="solid"/>
                <a:miter lim="12565"/>
                <a:headEnd len="sm" w="sm" type="none"/>
                <a:tailEnd len="sm" w="sm" type="none"/>
              </a:ln>
            </p:spPr>
            <p:txBody>
              <a:bodyPr anchorCtr="0" anchor="ctr" bIns="405650" lIns="405650" spcFirstLastPara="1" rIns="405650" wrap="square" tIns="405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" name="Google Shape;284;p34"/>
              <p:cNvSpPr/>
              <p:nvPr/>
            </p:nvSpPr>
            <p:spPr>
              <a:xfrm>
                <a:off x="6836957" y="2068734"/>
                <a:ext cx="461892" cy="589756"/>
              </a:xfrm>
              <a:custGeom>
                <a:rect b="b" l="l" r="r" t="t"/>
                <a:pathLst>
                  <a:path extrusionOk="0" fill="none" h="169592" w="132823">
                    <a:moveTo>
                      <a:pt x="132307" y="74442"/>
                    </a:moveTo>
                    <a:cubicBezTo>
                      <a:pt x="132332" y="74278"/>
                      <a:pt x="132345" y="74127"/>
                      <a:pt x="132357" y="73977"/>
                    </a:cubicBezTo>
                    <a:cubicBezTo>
                      <a:pt x="132408" y="73562"/>
                      <a:pt x="132458" y="73135"/>
                      <a:pt x="132496" y="72720"/>
                    </a:cubicBezTo>
                    <a:cubicBezTo>
                      <a:pt x="132533" y="72343"/>
                      <a:pt x="132558" y="71991"/>
                      <a:pt x="132584" y="71639"/>
                    </a:cubicBezTo>
                    <a:cubicBezTo>
                      <a:pt x="132584" y="71577"/>
                      <a:pt x="132596" y="71501"/>
                      <a:pt x="132609" y="71438"/>
                    </a:cubicBezTo>
                    <a:cubicBezTo>
                      <a:pt x="132759" y="69754"/>
                      <a:pt x="132822" y="68071"/>
                      <a:pt x="132797" y="66387"/>
                    </a:cubicBezTo>
                    <a:cubicBezTo>
                      <a:pt x="132797" y="29719"/>
                      <a:pt x="103079" y="1"/>
                      <a:pt x="66411" y="1"/>
                    </a:cubicBezTo>
                    <a:cubicBezTo>
                      <a:pt x="29744" y="1"/>
                      <a:pt x="25" y="29719"/>
                      <a:pt x="25" y="66387"/>
                    </a:cubicBezTo>
                    <a:cubicBezTo>
                      <a:pt x="0" y="68071"/>
                      <a:pt x="63" y="69754"/>
                      <a:pt x="214" y="71438"/>
                    </a:cubicBezTo>
                    <a:cubicBezTo>
                      <a:pt x="214" y="71501"/>
                      <a:pt x="226" y="71577"/>
                      <a:pt x="239" y="71639"/>
                    </a:cubicBezTo>
                    <a:cubicBezTo>
                      <a:pt x="264" y="71991"/>
                      <a:pt x="289" y="72343"/>
                      <a:pt x="327" y="72720"/>
                    </a:cubicBezTo>
                    <a:cubicBezTo>
                      <a:pt x="365" y="73135"/>
                      <a:pt x="415" y="73562"/>
                      <a:pt x="465" y="73977"/>
                    </a:cubicBezTo>
                    <a:cubicBezTo>
                      <a:pt x="478" y="74127"/>
                      <a:pt x="490" y="74278"/>
                      <a:pt x="515" y="74442"/>
                    </a:cubicBezTo>
                    <a:cubicBezTo>
                      <a:pt x="528" y="74617"/>
                      <a:pt x="553" y="74806"/>
                      <a:pt x="578" y="74994"/>
                    </a:cubicBezTo>
                    <a:cubicBezTo>
                      <a:pt x="2187" y="87887"/>
                      <a:pt x="8306" y="113182"/>
                      <a:pt x="31390" y="136140"/>
                    </a:cubicBezTo>
                    <a:cubicBezTo>
                      <a:pt x="35926" y="140652"/>
                      <a:pt x="39545" y="146030"/>
                      <a:pt x="41782" y="152036"/>
                    </a:cubicBezTo>
                    <a:cubicBezTo>
                      <a:pt x="42775" y="154650"/>
                      <a:pt x="43164" y="157176"/>
                      <a:pt x="43177" y="158985"/>
                    </a:cubicBezTo>
                    <a:cubicBezTo>
                      <a:pt x="43202" y="166299"/>
                      <a:pt x="42976" y="169591"/>
                      <a:pt x="66411" y="169591"/>
                    </a:cubicBezTo>
                    <a:cubicBezTo>
                      <a:pt x="89834" y="169591"/>
                      <a:pt x="89621" y="166286"/>
                      <a:pt x="89646" y="158985"/>
                    </a:cubicBezTo>
                    <a:cubicBezTo>
                      <a:pt x="89646" y="157176"/>
                      <a:pt x="90048" y="154650"/>
                      <a:pt x="91041" y="152036"/>
                    </a:cubicBezTo>
                    <a:cubicBezTo>
                      <a:pt x="93277" y="146042"/>
                      <a:pt x="96896" y="140652"/>
                      <a:pt x="101433" y="136140"/>
                    </a:cubicBezTo>
                    <a:cubicBezTo>
                      <a:pt x="124516" y="113182"/>
                      <a:pt x="130636" y="87887"/>
                      <a:pt x="132244" y="74994"/>
                    </a:cubicBezTo>
                    <a:cubicBezTo>
                      <a:pt x="132269" y="74806"/>
                      <a:pt x="132295" y="74617"/>
                      <a:pt x="132307" y="74442"/>
                    </a:cubicBezTo>
                    <a:close/>
                  </a:path>
                </a:pathLst>
              </a:custGeom>
              <a:noFill/>
              <a:ln cap="flat" cmpd="sng" w="42275">
                <a:solidFill>
                  <a:srgbClr val="FEFEFE"/>
                </a:solidFill>
                <a:prstDash val="solid"/>
                <a:miter lim="12565"/>
                <a:headEnd len="sm" w="sm" type="none"/>
                <a:tailEnd len="sm" w="sm" type="none"/>
              </a:ln>
            </p:spPr>
            <p:txBody>
              <a:bodyPr anchorCtr="0" anchor="ctr" bIns="405650" lIns="405650" spcFirstLastPara="1" rIns="405650" wrap="square" tIns="4056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85" name="Google Shape;285;p34"/>
          <p:cNvSpPr/>
          <p:nvPr/>
        </p:nvSpPr>
        <p:spPr>
          <a:xfrm>
            <a:off x="1200648" y="1778231"/>
            <a:ext cx="1121700" cy="557700"/>
          </a:xfrm>
          <a:prstGeom prst="flowChartAlternateProcess">
            <a:avLst/>
          </a:prstGeom>
          <a:noFill/>
          <a:ln cap="flat" cmpd="sng" w="81525">
            <a:solidFill>
              <a:srgbClr val="B3C3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7825" lIns="97825" spcFirstLastPara="1" rIns="97825" wrap="square" tIns="97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12">
                <a:solidFill>
                  <a:srgbClr val="191919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Reality Check</a:t>
            </a:r>
            <a:endParaRPr b="1" sz="1712">
              <a:solidFill>
                <a:srgbClr val="191919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86" name="Google Shape;286;p34"/>
          <p:cNvSpPr/>
          <p:nvPr/>
        </p:nvSpPr>
        <p:spPr>
          <a:xfrm>
            <a:off x="1029800" y="2607300"/>
            <a:ext cx="1463400" cy="548400"/>
          </a:xfrm>
          <a:prstGeom prst="flowChartAlternateProcess">
            <a:avLst/>
          </a:prstGeom>
          <a:noFill/>
          <a:ln cap="flat" cmpd="sng" w="81525">
            <a:solidFill>
              <a:srgbClr val="4F67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7825" lIns="97825" spcFirstLastPara="1" rIns="97825" wrap="square" tIns="97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12">
                <a:solidFill>
                  <a:srgbClr val="191919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What should we do?</a:t>
            </a:r>
            <a:endParaRPr b="1" sz="1712">
              <a:solidFill>
                <a:srgbClr val="191919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87" name="Google Shape;287;p34"/>
          <p:cNvSpPr txBox="1"/>
          <p:nvPr/>
        </p:nvSpPr>
        <p:spPr>
          <a:xfrm>
            <a:off x="6340075" y="2002275"/>
            <a:ext cx="2870700" cy="16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191919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Continuous loop, not a checkbox:</a:t>
            </a:r>
            <a:endParaRPr sz="1500">
              <a:solidFill>
                <a:srgbClr val="191919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91919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Fira Sans Extra Condensed"/>
              <a:buChar char="●"/>
            </a:pPr>
            <a:r>
              <a:rPr b="1" lang="en-GB">
                <a:solidFill>
                  <a:srgbClr val="191919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Monitor deployed models</a:t>
            </a:r>
            <a:endParaRPr b="1">
              <a:solidFill>
                <a:srgbClr val="191919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191919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Fira Sans Extra Condensed"/>
              <a:buChar char="●"/>
            </a:pPr>
            <a:r>
              <a:rPr b="1" lang="en-GB">
                <a:solidFill>
                  <a:srgbClr val="191919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Log, audit, and retrain</a:t>
            </a:r>
            <a:endParaRPr b="1">
              <a:solidFill>
                <a:srgbClr val="191919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191919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Fira Sans Extra Condensed"/>
              <a:buChar char="●"/>
            </a:pPr>
            <a:r>
              <a:rPr b="1" lang="en-GB">
                <a:solidFill>
                  <a:srgbClr val="191919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Automated feedback loop</a:t>
            </a:r>
            <a:r>
              <a:rPr lang="en-GB">
                <a:solidFill>
                  <a:srgbClr val="191919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 </a:t>
            </a:r>
            <a:endParaRPr sz="1500">
              <a:solidFill>
                <a:srgbClr val="191919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88" name="Google Shape;288;p34"/>
          <p:cNvSpPr/>
          <p:nvPr/>
        </p:nvSpPr>
        <p:spPr>
          <a:xfrm>
            <a:off x="1435650" y="3427075"/>
            <a:ext cx="621300" cy="418800"/>
          </a:xfrm>
          <a:prstGeom prst="flowChartAlternateProcess">
            <a:avLst/>
          </a:prstGeom>
          <a:noFill/>
          <a:ln cap="flat" cmpd="sng" w="76200">
            <a:solidFill>
              <a:srgbClr val="374F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7825" lIns="97825" spcFirstLastPara="1" rIns="97825" wrap="square" tIns="97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191919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Focus</a:t>
            </a:r>
            <a:endParaRPr b="1">
              <a:solidFill>
                <a:srgbClr val="191919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cxnSp>
        <p:nvCxnSpPr>
          <p:cNvPr id="289" name="Google Shape;289;p34"/>
          <p:cNvCxnSpPr/>
          <p:nvPr/>
        </p:nvCxnSpPr>
        <p:spPr>
          <a:xfrm flipH="1" rot="10800000">
            <a:off x="6513175" y="809800"/>
            <a:ext cx="2369700" cy="300"/>
          </a:xfrm>
          <a:prstGeom prst="straightConnector1">
            <a:avLst/>
          </a:prstGeom>
          <a:noFill/>
          <a:ln cap="flat" cmpd="sng" w="9525">
            <a:solidFill>
              <a:srgbClr val="C62F35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4" name="Google Shape;294;p35"/>
          <p:cNvGrpSpPr/>
          <p:nvPr/>
        </p:nvGrpSpPr>
        <p:grpSpPr>
          <a:xfrm>
            <a:off x="400527" y="719189"/>
            <a:ext cx="1567965" cy="1635618"/>
            <a:chOff x="606849" y="1203350"/>
            <a:chExt cx="1753876" cy="1829550"/>
          </a:xfrm>
        </p:grpSpPr>
        <p:sp>
          <p:nvSpPr>
            <p:cNvPr id="295" name="Google Shape;295;p35"/>
            <p:cNvSpPr/>
            <p:nvPr/>
          </p:nvSpPr>
          <p:spPr>
            <a:xfrm>
              <a:off x="1912750" y="1382375"/>
              <a:ext cx="230100" cy="1119800"/>
            </a:xfrm>
            <a:custGeom>
              <a:rect b="b" l="l" r="r" t="t"/>
              <a:pathLst>
                <a:path extrusionOk="0" h="44792" w="9204">
                  <a:moveTo>
                    <a:pt x="0" y="1"/>
                  </a:moveTo>
                  <a:lnTo>
                    <a:pt x="0" y="33291"/>
                  </a:lnTo>
                  <a:cubicBezTo>
                    <a:pt x="0" y="38244"/>
                    <a:pt x="2810" y="42649"/>
                    <a:pt x="7096" y="44792"/>
                  </a:cubicBezTo>
                  <a:lnTo>
                    <a:pt x="9204" y="44792"/>
                  </a:lnTo>
                  <a:lnTo>
                    <a:pt x="9204" y="43328"/>
                  </a:lnTo>
                  <a:cubicBezTo>
                    <a:pt x="5025" y="41804"/>
                    <a:pt x="2179" y="37827"/>
                    <a:pt x="2179" y="33291"/>
                  </a:cubicBezTo>
                  <a:lnTo>
                    <a:pt x="2179" y="1"/>
                  </a:lnTo>
                  <a:close/>
                </a:path>
              </a:pathLst>
            </a:custGeom>
            <a:solidFill>
              <a:srgbClr val="B949E7"/>
            </a:solidFill>
            <a:ln>
              <a:noFill/>
            </a:ln>
          </p:spPr>
          <p:txBody>
            <a:bodyPr anchorCtr="0" anchor="ctr" bIns="81725" lIns="81725" spcFirstLastPara="1" rIns="81725" wrap="square" tIns="81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35"/>
            <p:cNvSpPr/>
            <p:nvPr/>
          </p:nvSpPr>
          <p:spPr>
            <a:xfrm>
              <a:off x="1192125" y="2443825"/>
              <a:ext cx="1134375" cy="589075"/>
            </a:xfrm>
            <a:custGeom>
              <a:rect b="b" l="l" r="r" t="t"/>
              <a:pathLst>
                <a:path extrusionOk="0" h="23563" w="45375">
                  <a:moveTo>
                    <a:pt x="0" y="0"/>
                  </a:moveTo>
                  <a:lnTo>
                    <a:pt x="0" y="23563"/>
                  </a:lnTo>
                  <a:lnTo>
                    <a:pt x="33599" y="23563"/>
                  </a:lnTo>
                  <a:cubicBezTo>
                    <a:pt x="40100" y="23563"/>
                    <a:pt x="45375" y="18288"/>
                    <a:pt x="45375" y="11788"/>
                  </a:cubicBezTo>
                  <a:cubicBezTo>
                    <a:pt x="45375" y="5275"/>
                    <a:pt x="40100" y="0"/>
                    <a:pt x="33599" y="0"/>
                  </a:cubicBezTo>
                  <a:close/>
                </a:path>
              </a:pathLst>
            </a:custGeom>
            <a:solidFill>
              <a:srgbClr val="B949E7"/>
            </a:solidFill>
            <a:ln>
              <a:noFill/>
            </a:ln>
          </p:spPr>
          <p:txBody>
            <a:bodyPr anchorCtr="0" anchor="ctr" bIns="81725" lIns="81725" spcFirstLastPara="1" rIns="81725" wrap="square" tIns="817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519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Problem Definition</a:t>
              </a:r>
              <a:endParaRPr sz="1519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97" name="Google Shape;297;p35"/>
            <p:cNvSpPr/>
            <p:nvPr/>
          </p:nvSpPr>
          <p:spPr>
            <a:xfrm>
              <a:off x="2140450" y="1450250"/>
              <a:ext cx="150050" cy="150050"/>
            </a:xfrm>
            <a:custGeom>
              <a:rect b="b" l="l" r="r" t="t"/>
              <a:pathLst>
                <a:path extrusionOk="0" h="6002" w="6002">
                  <a:moveTo>
                    <a:pt x="3001" y="536"/>
                  </a:moveTo>
                  <a:cubicBezTo>
                    <a:pt x="4358" y="536"/>
                    <a:pt x="5465" y="1643"/>
                    <a:pt x="5465" y="3001"/>
                  </a:cubicBezTo>
                  <a:cubicBezTo>
                    <a:pt x="5465" y="4370"/>
                    <a:pt x="4358" y="5465"/>
                    <a:pt x="3001" y="5465"/>
                  </a:cubicBezTo>
                  <a:cubicBezTo>
                    <a:pt x="1643" y="5465"/>
                    <a:pt x="536" y="4370"/>
                    <a:pt x="536" y="3001"/>
                  </a:cubicBezTo>
                  <a:cubicBezTo>
                    <a:pt x="536" y="1643"/>
                    <a:pt x="1643" y="536"/>
                    <a:pt x="3001" y="536"/>
                  </a:cubicBezTo>
                  <a:close/>
                  <a:moveTo>
                    <a:pt x="3001" y="0"/>
                  </a:moveTo>
                  <a:cubicBezTo>
                    <a:pt x="1346" y="0"/>
                    <a:pt x="0" y="1346"/>
                    <a:pt x="0" y="3001"/>
                  </a:cubicBezTo>
                  <a:cubicBezTo>
                    <a:pt x="0" y="4656"/>
                    <a:pt x="1346" y="6001"/>
                    <a:pt x="3001" y="6001"/>
                  </a:cubicBezTo>
                  <a:cubicBezTo>
                    <a:pt x="4656" y="6001"/>
                    <a:pt x="6001" y="4656"/>
                    <a:pt x="6001" y="3001"/>
                  </a:cubicBezTo>
                  <a:cubicBezTo>
                    <a:pt x="6001" y="1346"/>
                    <a:pt x="4656" y="0"/>
                    <a:pt x="3001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anchorCtr="0" anchor="ctr" bIns="81725" lIns="81725" spcFirstLastPara="1" rIns="81725" wrap="square" tIns="81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35"/>
            <p:cNvSpPr/>
            <p:nvPr/>
          </p:nvSpPr>
          <p:spPr>
            <a:xfrm>
              <a:off x="2070200" y="1382375"/>
              <a:ext cx="290525" cy="286075"/>
            </a:xfrm>
            <a:custGeom>
              <a:rect b="b" l="l" r="r" t="t"/>
              <a:pathLst>
                <a:path extrusionOk="0" h="11443" w="11621">
                  <a:moveTo>
                    <a:pt x="7085" y="596"/>
                  </a:moveTo>
                  <a:cubicBezTo>
                    <a:pt x="7335" y="656"/>
                    <a:pt x="7573" y="739"/>
                    <a:pt x="7799" y="834"/>
                  </a:cubicBezTo>
                  <a:lnTo>
                    <a:pt x="7799" y="929"/>
                  </a:lnTo>
                  <a:cubicBezTo>
                    <a:pt x="7751" y="1846"/>
                    <a:pt x="7728" y="2418"/>
                    <a:pt x="8049" y="2644"/>
                  </a:cubicBezTo>
                  <a:cubicBezTo>
                    <a:pt x="8144" y="2715"/>
                    <a:pt x="8263" y="2751"/>
                    <a:pt x="8406" y="2751"/>
                  </a:cubicBezTo>
                  <a:cubicBezTo>
                    <a:pt x="8752" y="2751"/>
                    <a:pt x="9252" y="2549"/>
                    <a:pt x="9776" y="2346"/>
                  </a:cubicBezTo>
                  <a:lnTo>
                    <a:pt x="9847" y="2322"/>
                  </a:lnTo>
                  <a:cubicBezTo>
                    <a:pt x="10014" y="2513"/>
                    <a:pt x="10157" y="2715"/>
                    <a:pt x="10287" y="2930"/>
                  </a:cubicBezTo>
                  <a:lnTo>
                    <a:pt x="10252" y="2977"/>
                  </a:lnTo>
                  <a:cubicBezTo>
                    <a:pt x="9668" y="3692"/>
                    <a:pt x="9311" y="4156"/>
                    <a:pt x="9430" y="4549"/>
                  </a:cubicBezTo>
                  <a:cubicBezTo>
                    <a:pt x="9549" y="4918"/>
                    <a:pt x="10097" y="5073"/>
                    <a:pt x="10978" y="5299"/>
                  </a:cubicBezTo>
                  <a:lnTo>
                    <a:pt x="11073" y="5335"/>
                  </a:lnTo>
                  <a:cubicBezTo>
                    <a:pt x="11085" y="5454"/>
                    <a:pt x="11097" y="5585"/>
                    <a:pt x="11097" y="5716"/>
                  </a:cubicBezTo>
                  <a:cubicBezTo>
                    <a:pt x="11097" y="5859"/>
                    <a:pt x="11085" y="5978"/>
                    <a:pt x="11073" y="6109"/>
                  </a:cubicBezTo>
                  <a:lnTo>
                    <a:pt x="10954" y="6144"/>
                  </a:lnTo>
                  <a:cubicBezTo>
                    <a:pt x="10085" y="6371"/>
                    <a:pt x="9549" y="6525"/>
                    <a:pt x="9430" y="6894"/>
                  </a:cubicBezTo>
                  <a:cubicBezTo>
                    <a:pt x="9311" y="7275"/>
                    <a:pt x="9656" y="7740"/>
                    <a:pt x="10252" y="8466"/>
                  </a:cubicBezTo>
                  <a:lnTo>
                    <a:pt x="10287" y="8514"/>
                  </a:lnTo>
                  <a:cubicBezTo>
                    <a:pt x="10157" y="8716"/>
                    <a:pt x="10014" y="8930"/>
                    <a:pt x="9847" y="9121"/>
                  </a:cubicBezTo>
                  <a:lnTo>
                    <a:pt x="9787" y="9097"/>
                  </a:lnTo>
                  <a:cubicBezTo>
                    <a:pt x="9264" y="8895"/>
                    <a:pt x="8763" y="8692"/>
                    <a:pt x="8406" y="8692"/>
                  </a:cubicBezTo>
                  <a:cubicBezTo>
                    <a:pt x="8263" y="8692"/>
                    <a:pt x="8144" y="8728"/>
                    <a:pt x="8049" y="8799"/>
                  </a:cubicBezTo>
                  <a:cubicBezTo>
                    <a:pt x="7728" y="9026"/>
                    <a:pt x="7751" y="9597"/>
                    <a:pt x="7799" y="10514"/>
                  </a:cubicBezTo>
                  <a:lnTo>
                    <a:pt x="7799" y="10609"/>
                  </a:lnTo>
                  <a:cubicBezTo>
                    <a:pt x="7573" y="10704"/>
                    <a:pt x="7335" y="10776"/>
                    <a:pt x="7085" y="10835"/>
                  </a:cubicBezTo>
                  <a:lnTo>
                    <a:pt x="7073" y="10812"/>
                  </a:lnTo>
                  <a:cubicBezTo>
                    <a:pt x="6561" y="10014"/>
                    <a:pt x="6227" y="9526"/>
                    <a:pt x="5811" y="9526"/>
                  </a:cubicBezTo>
                  <a:cubicBezTo>
                    <a:pt x="5406" y="9526"/>
                    <a:pt x="5073" y="10002"/>
                    <a:pt x="4572" y="10788"/>
                  </a:cubicBezTo>
                  <a:lnTo>
                    <a:pt x="4537" y="10835"/>
                  </a:lnTo>
                  <a:cubicBezTo>
                    <a:pt x="4299" y="10776"/>
                    <a:pt x="4061" y="10704"/>
                    <a:pt x="3822" y="10609"/>
                  </a:cubicBezTo>
                  <a:lnTo>
                    <a:pt x="3822" y="10526"/>
                  </a:lnTo>
                  <a:cubicBezTo>
                    <a:pt x="3882" y="9597"/>
                    <a:pt x="3894" y="9026"/>
                    <a:pt x="3584" y="8799"/>
                  </a:cubicBezTo>
                  <a:cubicBezTo>
                    <a:pt x="3489" y="8728"/>
                    <a:pt x="3370" y="8692"/>
                    <a:pt x="3215" y="8692"/>
                  </a:cubicBezTo>
                  <a:cubicBezTo>
                    <a:pt x="2870" y="8692"/>
                    <a:pt x="2370" y="8883"/>
                    <a:pt x="1846" y="9097"/>
                  </a:cubicBezTo>
                  <a:lnTo>
                    <a:pt x="1786" y="9121"/>
                  </a:lnTo>
                  <a:cubicBezTo>
                    <a:pt x="1620" y="8930"/>
                    <a:pt x="1477" y="8728"/>
                    <a:pt x="1334" y="8514"/>
                  </a:cubicBezTo>
                  <a:lnTo>
                    <a:pt x="1382" y="8454"/>
                  </a:lnTo>
                  <a:cubicBezTo>
                    <a:pt x="1965" y="7740"/>
                    <a:pt x="2322" y="7275"/>
                    <a:pt x="2191" y="6894"/>
                  </a:cubicBezTo>
                  <a:cubicBezTo>
                    <a:pt x="2072" y="6525"/>
                    <a:pt x="1536" y="6371"/>
                    <a:pt x="667" y="6144"/>
                  </a:cubicBezTo>
                  <a:lnTo>
                    <a:pt x="548" y="6109"/>
                  </a:lnTo>
                  <a:cubicBezTo>
                    <a:pt x="536" y="5978"/>
                    <a:pt x="536" y="5847"/>
                    <a:pt x="536" y="5716"/>
                  </a:cubicBezTo>
                  <a:cubicBezTo>
                    <a:pt x="536" y="5585"/>
                    <a:pt x="536" y="5454"/>
                    <a:pt x="548" y="5335"/>
                  </a:cubicBezTo>
                  <a:lnTo>
                    <a:pt x="655" y="5299"/>
                  </a:lnTo>
                  <a:cubicBezTo>
                    <a:pt x="1536" y="5073"/>
                    <a:pt x="2072" y="4918"/>
                    <a:pt x="2203" y="4537"/>
                  </a:cubicBezTo>
                  <a:cubicBezTo>
                    <a:pt x="2322" y="4156"/>
                    <a:pt x="1965" y="3704"/>
                    <a:pt x="1370" y="2977"/>
                  </a:cubicBezTo>
                  <a:lnTo>
                    <a:pt x="1334" y="2930"/>
                  </a:lnTo>
                  <a:cubicBezTo>
                    <a:pt x="1465" y="2715"/>
                    <a:pt x="1620" y="2513"/>
                    <a:pt x="1786" y="2322"/>
                  </a:cubicBezTo>
                  <a:lnTo>
                    <a:pt x="1858" y="2346"/>
                  </a:lnTo>
                  <a:cubicBezTo>
                    <a:pt x="2382" y="2549"/>
                    <a:pt x="2870" y="2751"/>
                    <a:pt x="3215" y="2751"/>
                  </a:cubicBezTo>
                  <a:cubicBezTo>
                    <a:pt x="3370" y="2751"/>
                    <a:pt x="3489" y="2715"/>
                    <a:pt x="3584" y="2644"/>
                  </a:cubicBezTo>
                  <a:cubicBezTo>
                    <a:pt x="3894" y="2418"/>
                    <a:pt x="3882" y="1834"/>
                    <a:pt x="3822" y="918"/>
                  </a:cubicBezTo>
                  <a:lnTo>
                    <a:pt x="3822" y="834"/>
                  </a:lnTo>
                  <a:cubicBezTo>
                    <a:pt x="4049" y="739"/>
                    <a:pt x="4287" y="656"/>
                    <a:pt x="4537" y="596"/>
                  </a:cubicBezTo>
                  <a:lnTo>
                    <a:pt x="4561" y="632"/>
                  </a:lnTo>
                  <a:cubicBezTo>
                    <a:pt x="5073" y="1429"/>
                    <a:pt x="5406" y="1918"/>
                    <a:pt x="5811" y="1918"/>
                  </a:cubicBezTo>
                  <a:cubicBezTo>
                    <a:pt x="6227" y="1918"/>
                    <a:pt x="6561" y="1418"/>
                    <a:pt x="7085" y="608"/>
                  </a:cubicBezTo>
                  <a:lnTo>
                    <a:pt x="7085" y="596"/>
                  </a:lnTo>
                  <a:close/>
                  <a:moveTo>
                    <a:pt x="4787" y="1"/>
                  </a:moveTo>
                  <a:lnTo>
                    <a:pt x="4608" y="36"/>
                  </a:lnTo>
                  <a:cubicBezTo>
                    <a:pt x="4203" y="120"/>
                    <a:pt x="3810" y="251"/>
                    <a:pt x="3441" y="417"/>
                  </a:cubicBezTo>
                  <a:lnTo>
                    <a:pt x="3275" y="501"/>
                  </a:lnTo>
                  <a:lnTo>
                    <a:pt x="3299" y="941"/>
                  </a:lnTo>
                  <a:cubicBezTo>
                    <a:pt x="3322" y="1370"/>
                    <a:pt x="3358" y="2084"/>
                    <a:pt x="3275" y="2203"/>
                  </a:cubicBezTo>
                  <a:cubicBezTo>
                    <a:pt x="3275" y="2203"/>
                    <a:pt x="3263" y="2215"/>
                    <a:pt x="3215" y="2215"/>
                  </a:cubicBezTo>
                  <a:cubicBezTo>
                    <a:pt x="2977" y="2215"/>
                    <a:pt x="2477" y="2025"/>
                    <a:pt x="2048" y="1846"/>
                  </a:cubicBezTo>
                  <a:lnTo>
                    <a:pt x="1632" y="1691"/>
                  </a:lnTo>
                  <a:lnTo>
                    <a:pt x="1501" y="1822"/>
                  </a:lnTo>
                  <a:cubicBezTo>
                    <a:pt x="1227" y="2144"/>
                    <a:pt x="977" y="2477"/>
                    <a:pt x="786" y="2823"/>
                  </a:cubicBezTo>
                  <a:lnTo>
                    <a:pt x="691" y="2977"/>
                  </a:lnTo>
                  <a:lnTo>
                    <a:pt x="965" y="3311"/>
                  </a:lnTo>
                  <a:cubicBezTo>
                    <a:pt x="1239" y="3656"/>
                    <a:pt x="1703" y="4216"/>
                    <a:pt x="1691" y="4370"/>
                  </a:cubicBezTo>
                  <a:cubicBezTo>
                    <a:pt x="1608" y="4501"/>
                    <a:pt x="929" y="4680"/>
                    <a:pt x="524" y="4787"/>
                  </a:cubicBezTo>
                  <a:lnTo>
                    <a:pt x="60" y="4906"/>
                  </a:lnTo>
                  <a:lnTo>
                    <a:pt x="36" y="5097"/>
                  </a:lnTo>
                  <a:cubicBezTo>
                    <a:pt x="12" y="5299"/>
                    <a:pt x="0" y="5513"/>
                    <a:pt x="0" y="5716"/>
                  </a:cubicBezTo>
                  <a:cubicBezTo>
                    <a:pt x="0" y="5930"/>
                    <a:pt x="12" y="6144"/>
                    <a:pt x="36" y="6347"/>
                  </a:cubicBezTo>
                  <a:lnTo>
                    <a:pt x="60" y="6525"/>
                  </a:lnTo>
                  <a:lnTo>
                    <a:pt x="536" y="6656"/>
                  </a:lnTo>
                  <a:cubicBezTo>
                    <a:pt x="929" y="6763"/>
                    <a:pt x="1608" y="6942"/>
                    <a:pt x="1691" y="7049"/>
                  </a:cubicBezTo>
                  <a:cubicBezTo>
                    <a:pt x="1703" y="7216"/>
                    <a:pt x="1239" y="7787"/>
                    <a:pt x="965" y="8121"/>
                  </a:cubicBezTo>
                  <a:lnTo>
                    <a:pt x="691" y="8466"/>
                  </a:lnTo>
                  <a:lnTo>
                    <a:pt x="786" y="8621"/>
                  </a:lnTo>
                  <a:cubicBezTo>
                    <a:pt x="989" y="8978"/>
                    <a:pt x="1239" y="9311"/>
                    <a:pt x="1513" y="9621"/>
                  </a:cubicBezTo>
                  <a:lnTo>
                    <a:pt x="1632" y="9752"/>
                  </a:lnTo>
                  <a:lnTo>
                    <a:pt x="2036" y="9585"/>
                  </a:lnTo>
                  <a:cubicBezTo>
                    <a:pt x="2477" y="9419"/>
                    <a:pt x="2977" y="9228"/>
                    <a:pt x="3215" y="9228"/>
                  </a:cubicBezTo>
                  <a:lnTo>
                    <a:pt x="3263" y="9228"/>
                  </a:lnTo>
                  <a:cubicBezTo>
                    <a:pt x="3358" y="9383"/>
                    <a:pt x="3322" y="10073"/>
                    <a:pt x="3299" y="10490"/>
                  </a:cubicBezTo>
                  <a:lnTo>
                    <a:pt x="3275" y="10943"/>
                  </a:lnTo>
                  <a:lnTo>
                    <a:pt x="3441" y="11026"/>
                  </a:lnTo>
                  <a:cubicBezTo>
                    <a:pt x="3822" y="11193"/>
                    <a:pt x="4215" y="11324"/>
                    <a:pt x="4608" y="11407"/>
                  </a:cubicBezTo>
                  <a:lnTo>
                    <a:pt x="4787" y="11443"/>
                  </a:lnTo>
                  <a:lnTo>
                    <a:pt x="5025" y="11074"/>
                  </a:lnTo>
                  <a:cubicBezTo>
                    <a:pt x="5251" y="10704"/>
                    <a:pt x="5656" y="10097"/>
                    <a:pt x="5811" y="10050"/>
                  </a:cubicBezTo>
                  <a:cubicBezTo>
                    <a:pt x="5977" y="10097"/>
                    <a:pt x="6394" y="10752"/>
                    <a:pt x="6620" y="11109"/>
                  </a:cubicBezTo>
                  <a:lnTo>
                    <a:pt x="6847" y="11443"/>
                  </a:lnTo>
                  <a:lnTo>
                    <a:pt x="7025" y="11407"/>
                  </a:lnTo>
                  <a:cubicBezTo>
                    <a:pt x="7418" y="11324"/>
                    <a:pt x="7811" y="11193"/>
                    <a:pt x="8192" y="11026"/>
                  </a:cubicBezTo>
                  <a:lnTo>
                    <a:pt x="8359" y="10954"/>
                  </a:lnTo>
                  <a:lnTo>
                    <a:pt x="8335" y="10490"/>
                  </a:lnTo>
                  <a:cubicBezTo>
                    <a:pt x="8311" y="10062"/>
                    <a:pt x="8263" y="9359"/>
                    <a:pt x="8359" y="9228"/>
                  </a:cubicBezTo>
                  <a:lnTo>
                    <a:pt x="8406" y="9228"/>
                  </a:lnTo>
                  <a:cubicBezTo>
                    <a:pt x="8656" y="9228"/>
                    <a:pt x="9156" y="9419"/>
                    <a:pt x="9597" y="9597"/>
                  </a:cubicBezTo>
                  <a:lnTo>
                    <a:pt x="10002" y="9752"/>
                  </a:lnTo>
                  <a:lnTo>
                    <a:pt x="10121" y="9621"/>
                  </a:lnTo>
                  <a:cubicBezTo>
                    <a:pt x="10407" y="9300"/>
                    <a:pt x="10645" y="8966"/>
                    <a:pt x="10847" y="8621"/>
                  </a:cubicBezTo>
                  <a:lnTo>
                    <a:pt x="10942" y="8466"/>
                  </a:lnTo>
                  <a:lnTo>
                    <a:pt x="10668" y="8121"/>
                  </a:lnTo>
                  <a:cubicBezTo>
                    <a:pt x="10383" y="7787"/>
                    <a:pt x="9930" y="7216"/>
                    <a:pt x="9930" y="7073"/>
                  </a:cubicBezTo>
                  <a:cubicBezTo>
                    <a:pt x="10026" y="6942"/>
                    <a:pt x="10692" y="6763"/>
                    <a:pt x="11097" y="6656"/>
                  </a:cubicBezTo>
                  <a:lnTo>
                    <a:pt x="11573" y="6525"/>
                  </a:lnTo>
                  <a:lnTo>
                    <a:pt x="11597" y="6347"/>
                  </a:lnTo>
                  <a:cubicBezTo>
                    <a:pt x="11609" y="6144"/>
                    <a:pt x="11621" y="5942"/>
                    <a:pt x="11621" y="5716"/>
                  </a:cubicBezTo>
                  <a:cubicBezTo>
                    <a:pt x="11621" y="5501"/>
                    <a:pt x="11609" y="5299"/>
                    <a:pt x="11597" y="5097"/>
                  </a:cubicBezTo>
                  <a:lnTo>
                    <a:pt x="11573" y="4906"/>
                  </a:lnTo>
                  <a:lnTo>
                    <a:pt x="11109" y="4787"/>
                  </a:lnTo>
                  <a:cubicBezTo>
                    <a:pt x="10704" y="4680"/>
                    <a:pt x="10026" y="4501"/>
                    <a:pt x="9942" y="4394"/>
                  </a:cubicBezTo>
                  <a:cubicBezTo>
                    <a:pt x="9930" y="4216"/>
                    <a:pt x="10395" y="3644"/>
                    <a:pt x="10668" y="3311"/>
                  </a:cubicBezTo>
                  <a:lnTo>
                    <a:pt x="10942" y="2977"/>
                  </a:lnTo>
                  <a:lnTo>
                    <a:pt x="10847" y="2823"/>
                  </a:lnTo>
                  <a:cubicBezTo>
                    <a:pt x="10645" y="2477"/>
                    <a:pt x="10407" y="2144"/>
                    <a:pt x="10121" y="1822"/>
                  </a:cubicBezTo>
                  <a:lnTo>
                    <a:pt x="10002" y="1691"/>
                  </a:lnTo>
                  <a:lnTo>
                    <a:pt x="9585" y="1846"/>
                  </a:lnTo>
                  <a:cubicBezTo>
                    <a:pt x="9144" y="2025"/>
                    <a:pt x="8656" y="2215"/>
                    <a:pt x="8406" y="2215"/>
                  </a:cubicBezTo>
                  <a:lnTo>
                    <a:pt x="8371" y="2215"/>
                  </a:lnTo>
                  <a:cubicBezTo>
                    <a:pt x="8263" y="2061"/>
                    <a:pt x="8311" y="1370"/>
                    <a:pt x="8335" y="953"/>
                  </a:cubicBezTo>
                  <a:lnTo>
                    <a:pt x="8359" y="489"/>
                  </a:lnTo>
                  <a:lnTo>
                    <a:pt x="8192" y="417"/>
                  </a:lnTo>
                  <a:cubicBezTo>
                    <a:pt x="7811" y="251"/>
                    <a:pt x="7418" y="120"/>
                    <a:pt x="7025" y="36"/>
                  </a:cubicBezTo>
                  <a:lnTo>
                    <a:pt x="6847" y="1"/>
                  </a:lnTo>
                  <a:lnTo>
                    <a:pt x="6632" y="322"/>
                  </a:lnTo>
                  <a:cubicBezTo>
                    <a:pt x="6406" y="679"/>
                    <a:pt x="5977" y="1346"/>
                    <a:pt x="5823" y="1382"/>
                  </a:cubicBezTo>
                  <a:cubicBezTo>
                    <a:pt x="5644" y="1346"/>
                    <a:pt x="5251" y="715"/>
                    <a:pt x="5013" y="346"/>
                  </a:cubicBezTo>
                  <a:lnTo>
                    <a:pt x="4787" y="1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anchorCtr="0" anchor="ctr" bIns="81725" lIns="81725" spcFirstLastPara="1" rIns="81725" wrap="square" tIns="81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35"/>
            <p:cNvSpPr txBox="1"/>
            <p:nvPr/>
          </p:nvSpPr>
          <p:spPr>
            <a:xfrm>
              <a:off x="606849" y="1550190"/>
              <a:ext cx="13059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1725" lIns="81725" spcFirstLastPara="1" rIns="81725" wrap="square" tIns="817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72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…………………</a:t>
              </a:r>
              <a:endParaRPr sz="1072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00" name="Google Shape;300;p35"/>
            <p:cNvSpPr txBox="1"/>
            <p:nvPr/>
          </p:nvSpPr>
          <p:spPr>
            <a:xfrm>
              <a:off x="606849" y="1203350"/>
              <a:ext cx="13059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1725" lIns="81725" spcFirstLastPara="1" rIns="81725" wrap="square" tIns="817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519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—-----</a:t>
              </a:r>
              <a:endParaRPr sz="1519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301" name="Google Shape;301;p35"/>
          <p:cNvGrpSpPr/>
          <p:nvPr/>
        </p:nvGrpSpPr>
        <p:grpSpPr>
          <a:xfrm>
            <a:off x="2522900" y="719189"/>
            <a:ext cx="1740879" cy="1635618"/>
            <a:chOff x="2980649" y="1203350"/>
            <a:chExt cx="1785151" cy="1829550"/>
          </a:xfrm>
        </p:grpSpPr>
        <p:sp>
          <p:nvSpPr>
            <p:cNvPr id="302" name="Google Shape;302;p35"/>
            <p:cNvSpPr/>
            <p:nvPr/>
          </p:nvSpPr>
          <p:spPr>
            <a:xfrm>
              <a:off x="4286550" y="1382375"/>
              <a:ext cx="230100" cy="1119800"/>
            </a:xfrm>
            <a:custGeom>
              <a:rect b="b" l="l" r="r" t="t"/>
              <a:pathLst>
                <a:path extrusionOk="0" h="44792" w="9204">
                  <a:moveTo>
                    <a:pt x="0" y="1"/>
                  </a:moveTo>
                  <a:lnTo>
                    <a:pt x="0" y="33291"/>
                  </a:lnTo>
                  <a:cubicBezTo>
                    <a:pt x="0" y="38244"/>
                    <a:pt x="2810" y="42649"/>
                    <a:pt x="7097" y="44792"/>
                  </a:cubicBezTo>
                  <a:lnTo>
                    <a:pt x="9204" y="44792"/>
                  </a:lnTo>
                  <a:lnTo>
                    <a:pt x="9204" y="43328"/>
                  </a:lnTo>
                  <a:cubicBezTo>
                    <a:pt x="5025" y="41804"/>
                    <a:pt x="2179" y="37827"/>
                    <a:pt x="2179" y="33291"/>
                  </a:cubicBezTo>
                  <a:lnTo>
                    <a:pt x="2179" y="1"/>
                  </a:lnTo>
                  <a:close/>
                </a:path>
              </a:pathLst>
            </a:custGeom>
            <a:solidFill>
              <a:srgbClr val="5EB2FC"/>
            </a:solidFill>
            <a:ln>
              <a:noFill/>
            </a:ln>
          </p:spPr>
          <p:txBody>
            <a:bodyPr anchorCtr="0" anchor="ctr" bIns="81725" lIns="81725" spcFirstLastPara="1" rIns="81725" wrap="square" tIns="81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35"/>
            <p:cNvSpPr/>
            <p:nvPr/>
          </p:nvSpPr>
          <p:spPr>
            <a:xfrm>
              <a:off x="3460550" y="2443825"/>
              <a:ext cx="1240050" cy="589075"/>
            </a:xfrm>
            <a:custGeom>
              <a:rect b="b" l="l" r="r" t="t"/>
              <a:pathLst>
                <a:path extrusionOk="0" h="23563" w="49602">
                  <a:moveTo>
                    <a:pt x="1" y="0"/>
                  </a:moveTo>
                  <a:cubicBezTo>
                    <a:pt x="4620" y="1917"/>
                    <a:pt x="7871" y="6477"/>
                    <a:pt x="7871" y="11788"/>
                  </a:cubicBezTo>
                  <a:cubicBezTo>
                    <a:pt x="7871" y="17098"/>
                    <a:pt x="4620" y="21646"/>
                    <a:pt x="1" y="23563"/>
                  </a:cubicBezTo>
                  <a:lnTo>
                    <a:pt x="37827" y="23563"/>
                  </a:lnTo>
                  <a:cubicBezTo>
                    <a:pt x="44328" y="23563"/>
                    <a:pt x="49602" y="18288"/>
                    <a:pt x="49602" y="11788"/>
                  </a:cubicBezTo>
                  <a:cubicBezTo>
                    <a:pt x="49602" y="5275"/>
                    <a:pt x="44328" y="0"/>
                    <a:pt x="37827" y="0"/>
                  </a:cubicBezTo>
                  <a:close/>
                </a:path>
              </a:pathLst>
            </a:custGeom>
            <a:solidFill>
              <a:srgbClr val="5EB2FC"/>
            </a:solidFill>
            <a:ln>
              <a:noFill/>
            </a:ln>
          </p:spPr>
          <p:txBody>
            <a:bodyPr anchorCtr="0" anchor="ctr" bIns="81725" lIns="81725" spcFirstLastPara="1" rIns="81725" wrap="square" tIns="817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519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Pre processing</a:t>
              </a:r>
              <a:endParaRPr sz="1519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304" name="Google Shape;304;p35"/>
            <p:cNvSpPr/>
            <p:nvPr/>
          </p:nvSpPr>
          <p:spPr>
            <a:xfrm>
              <a:off x="4460675" y="1496375"/>
              <a:ext cx="89325" cy="171175"/>
            </a:xfrm>
            <a:custGeom>
              <a:rect b="b" l="l" r="r" t="t"/>
              <a:pathLst>
                <a:path extrusionOk="0" h="6847" w="3573">
                  <a:moveTo>
                    <a:pt x="2977" y="739"/>
                  </a:moveTo>
                  <a:lnTo>
                    <a:pt x="2977" y="6252"/>
                  </a:lnTo>
                  <a:lnTo>
                    <a:pt x="596" y="6252"/>
                  </a:lnTo>
                  <a:lnTo>
                    <a:pt x="596" y="739"/>
                  </a:lnTo>
                  <a:close/>
                  <a:moveTo>
                    <a:pt x="1" y="1"/>
                  </a:moveTo>
                  <a:lnTo>
                    <a:pt x="1" y="6847"/>
                  </a:lnTo>
                  <a:lnTo>
                    <a:pt x="3572" y="6847"/>
                  </a:lnTo>
                  <a:lnTo>
                    <a:pt x="3572" y="1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anchorCtr="0" anchor="ctr" bIns="81725" lIns="81725" spcFirstLastPara="1" rIns="81725" wrap="square" tIns="81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35"/>
            <p:cNvSpPr/>
            <p:nvPr/>
          </p:nvSpPr>
          <p:spPr>
            <a:xfrm>
              <a:off x="4564850" y="1436850"/>
              <a:ext cx="92900" cy="230700"/>
            </a:xfrm>
            <a:custGeom>
              <a:rect b="b" l="l" r="r" t="t"/>
              <a:pathLst>
                <a:path extrusionOk="0" h="9228" w="3716">
                  <a:moveTo>
                    <a:pt x="3120" y="596"/>
                  </a:moveTo>
                  <a:lnTo>
                    <a:pt x="3120" y="8633"/>
                  </a:lnTo>
                  <a:lnTo>
                    <a:pt x="596" y="8633"/>
                  </a:lnTo>
                  <a:lnTo>
                    <a:pt x="596" y="596"/>
                  </a:lnTo>
                  <a:close/>
                  <a:moveTo>
                    <a:pt x="1" y="1"/>
                  </a:moveTo>
                  <a:lnTo>
                    <a:pt x="1" y="9228"/>
                  </a:lnTo>
                  <a:lnTo>
                    <a:pt x="3716" y="9228"/>
                  </a:lnTo>
                  <a:lnTo>
                    <a:pt x="3716" y="1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anchorCtr="0" anchor="ctr" bIns="81725" lIns="81725" spcFirstLastPara="1" rIns="81725" wrap="square" tIns="81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35"/>
            <p:cNvSpPr/>
            <p:nvPr/>
          </p:nvSpPr>
          <p:spPr>
            <a:xfrm>
              <a:off x="4672600" y="1380900"/>
              <a:ext cx="93200" cy="286650"/>
            </a:xfrm>
            <a:custGeom>
              <a:rect b="b" l="l" r="r" t="t"/>
              <a:pathLst>
                <a:path extrusionOk="0" h="11466" w="3728">
                  <a:moveTo>
                    <a:pt x="3132" y="596"/>
                  </a:moveTo>
                  <a:lnTo>
                    <a:pt x="3132" y="10871"/>
                  </a:lnTo>
                  <a:lnTo>
                    <a:pt x="596" y="10871"/>
                  </a:lnTo>
                  <a:lnTo>
                    <a:pt x="596" y="596"/>
                  </a:lnTo>
                  <a:close/>
                  <a:moveTo>
                    <a:pt x="1" y="0"/>
                  </a:moveTo>
                  <a:lnTo>
                    <a:pt x="1" y="11466"/>
                  </a:lnTo>
                  <a:lnTo>
                    <a:pt x="3727" y="11466"/>
                  </a:lnTo>
                  <a:lnTo>
                    <a:pt x="3727" y="0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anchorCtr="0" anchor="ctr" bIns="81725" lIns="81725" spcFirstLastPara="1" rIns="81725" wrap="square" tIns="81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35"/>
            <p:cNvSpPr txBox="1"/>
            <p:nvPr/>
          </p:nvSpPr>
          <p:spPr>
            <a:xfrm>
              <a:off x="2980649" y="1550190"/>
              <a:ext cx="13059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1725" lIns="81725" spcFirstLastPara="1" rIns="81725" wrap="square" tIns="817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72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…………………</a:t>
              </a:r>
              <a:endParaRPr sz="1072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08" name="Google Shape;308;p35"/>
            <p:cNvSpPr txBox="1"/>
            <p:nvPr/>
          </p:nvSpPr>
          <p:spPr>
            <a:xfrm>
              <a:off x="2980649" y="1203350"/>
              <a:ext cx="13059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1725" lIns="81725" spcFirstLastPara="1" rIns="81725" wrap="square" tIns="817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519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—-----</a:t>
              </a:r>
              <a:endParaRPr sz="1519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309" name="Google Shape;309;p35"/>
          <p:cNvGrpSpPr/>
          <p:nvPr/>
        </p:nvGrpSpPr>
        <p:grpSpPr>
          <a:xfrm>
            <a:off x="4740299" y="719189"/>
            <a:ext cx="1594047" cy="1635618"/>
            <a:chOff x="5354475" y="1203350"/>
            <a:chExt cx="1783050" cy="1829550"/>
          </a:xfrm>
        </p:grpSpPr>
        <p:sp>
          <p:nvSpPr>
            <p:cNvPr id="310" name="Google Shape;310;p35"/>
            <p:cNvSpPr/>
            <p:nvPr/>
          </p:nvSpPr>
          <p:spPr>
            <a:xfrm>
              <a:off x="6657075" y="1382375"/>
              <a:ext cx="230425" cy="1119800"/>
            </a:xfrm>
            <a:custGeom>
              <a:rect b="b" l="l" r="r" t="t"/>
              <a:pathLst>
                <a:path extrusionOk="0" h="44792" w="9217">
                  <a:moveTo>
                    <a:pt x="1" y="1"/>
                  </a:moveTo>
                  <a:lnTo>
                    <a:pt x="1" y="33291"/>
                  </a:lnTo>
                  <a:cubicBezTo>
                    <a:pt x="1" y="38244"/>
                    <a:pt x="2823" y="42649"/>
                    <a:pt x="7097" y="44792"/>
                  </a:cubicBezTo>
                  <a:lnTo>
                    <a:pt x="9216" y="44792"/>
                  </a:lnTo>
                  <a:lnTo>
                    <a:pt x="9216" y="43328"/>
                  </a:lnTo>
                  <a:cubicBezTo>
                    <a:pt x="5025" y="41804"/>
                    <a:pt x="2192" y="37827"/>
                    <a:pt x="2192" y="33291"/>
                  </a:cubicBezTo>
                  <a:lnTo>
                    <a:pt x="2192" y="1"/>
                  </a:lnTo>
                  <a:close/>
                </a:path>
              </a:pathLst>
            </a:custGeom>
            <a:solidFill>
              <a:srgbClr val="69E781"/>
            </a:solidFill>
            <a:ln>
              <a:noFill/>
            </a:ln>
          </p:spPr>
          <p:txBody>
            <a:bodyPr anchorCtr="0" anchor="ctr" bIns="81725" lIns="81725" spcFirstLastPara="1" rIns="81725" wrap="square" tIns="81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35"/>
            <p:cNvSpPr/>
            <p:nvPr/>
          </p:nvSpPr>
          <p:spPr>
            <a:xfrm>
              <a:off x="5831075" y="2443825"/>
              <a:ext cx="1240375" cy="589075"/>
            </a:xfrm>
            <a:custGeom>
              <a:rect b="b" l="l" r="r" t="t"/>
              <a:pathLst>
                <a:path extrusionOk="0" h="23563" w="49615">
                  <a:moveTo>
                    <a:pt x="1" y="0"/>
                  </a:moveTo>
                  <a:cubicBezTo>
                    <a:pt x="4621" y="1917"/>
                    <a:pt x="7871" y="6477"/>
                    <a:pt x="7871" y="11788"/>
                  </a:cubicBezTo>
                  <a:cubicBezTo>
                    <a:pt x="7871" y="17098"/>
                    <a:pt x="4621" y="21646"/>
                    <a:pt x="1" y="23563"/>
                  </a:cubicBezTo>
                  <a:lnTo>
                    <a:pt x="37827" y="23563"/>
                  </a:lnTo>
                  <a:cubicBezTo>
                    <a:pt x="44340" y="23563"/>
                    <a:pt x="49614" y="18288"/>
                    <a:pt x="49614" y="11788"/>
                  </a:cubicBezTo>
                  <a:cubicBezTo>
                    <a:pt x="49614" y="5275"/>
                    <a:pt x="44340" y="0"/>
                    <a:pt x="37827" y="0"/>
                  </a:cubicBezTo>
                  <a:close/>
                </a:path>
              </a:pathLst>
            </a:custGeom>
            <a:solidFill>
              <a:srgbClr val="69E781"/>
            </a:solidFill>
            <a:ln>
              <a:noFill/>
            </a:ln>
          </p:spPr>
          <p:txBody>
            <a:bodyPr anchorCtr="0" anchor="ctr" bIns="81725" lIns="81725" spcFirstLastPara="1" rIns="81725" wrap="square" tIns="817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519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Model Training</a:t>
              </a:r>
              <a:endParaRPr sz="1519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312" name="Google Shape;312;p35"/>
            <p:cNvSpPr/>
            <p:nvPr/>
          </p:nvSpPr>
          <p:spPr>
            <a:xfrm>
              <a:off x="6915750" y="1412900"/>
              <a:ext cx="145875" cy="82925"/>
            </a:xfrm>
            <a:custGeom>
              <a:rect b="b" l="l" r="r" t="t"/>
              <a:pathLst>
                <a:path extrusionOk="0" h="3317" w="5835">
                  <a:moveTo>
                    <a:pt x="2971" y="0"/>
                  </a:moveTo>
                  <a:cubicBezTo>
                    <a:pt x="2233" y="0"/>
                    <a:pt x="1495" y="280"/>
                    <a:pt x="929" y="840"/>
                  </a:cubicBezTo>
                  <a:cubicBezTo>
                    <a:pt x="262" y="1518"/>
                    <a:pt x="0" y="2447"/>
                    <a:pt x="131" y="3316"/>
                  </a:cubicBezTo>
                  <a:lnTo>
                    <a:pt x="739" y="3256"/>
                  </a:lnTo>
                  <a:cubicBezTo>
                    <a:pt x="619" y="2554"/>
                    <a:pt x="822" y="1816"/>
                    <a:pt x="1370" y="1280"/>
                  </a:cubicBezTo>
                  <a:cubicBezTo>
                    <a:pt x="1810" y="834"/>
                    <a:pt x="2391" y="610"/>
                    <a:pt x="2971" y="610"/>
                  </a:cubicBezTo>
                  <a:cubicBezTo>
                    <a:pt x="3551" y="610"/>
                    <a:pt x="4132" y="834"/>
                    <a:pt x="4572" y="1280"/>
                  </a:cubicBezTo>
                  <a:cubicBezTo>
                    <a:pt x="5001" y="1709"/>
                    <a:pt x="5215" y="2256"/>
                    <a:pt x="5239" y="2828"/>
                  </a:cubicBezTo>
                  <a:lnTo>
                    <a:pt x="5834" y="2768"/>
                  </a:lnTo>
                  <a:cubicBezTo>
                    <a:pt x="5811" y="2066"/>
                    <a:pt x="5537" y="1375"/>
                    <a:pt x="5013" y="840"/>
                  </a:cubicBezTo>
                  <a:cubicBezTo>
                    <a:pt x="4447" y="280"/>
                    <a:pt x="3709" y="0"/>
                    <a:pt x="2971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anchorCtr="0" anchor="ctr" bIns="81725" lIns="81725" spcFirstLastPara="1" rIns="81725" wrap="square" tIns="81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35"/>
            <p:cNvSpPr/>
            <p:nvPr/>
          </p:nvSpPr>
          <p:spPr>
            <a:xfrm>
              <a:off x="6877350" y="1382225"/>
              <a:ext cx="260175" cy="250200"/>
            </a:xfrm>
            <a:custGeom>
              <a:rect b="b" l="l" r="r" t="t"/>
              <a:pathLst>
                <a:path extrusionOk="0" h="10008" w="10407">
                  <a:moveTo>
                    <a:pt x="4507" y="611"/>
                  </a:moveTo>
                  <a:cubicBezTo>
                    <a:pt x="5403" y="611"/>
                    <a:pt x="6299" y="953"/>
                    <a:pt x="6977" y="1638"/>
                  </a:cubicBezTo>
                  <a:cubicBezTo>
                    <a:pt x="8335" y="2995"/>
                    <a:pt x="8335" y="5222"/>
                    <a:pt x="6977" y="6579"/>
                  </a:cubicBezTo>
                  <a:cubicBezTo>
                    <a:pt x="6299" y="7258"/>
                    <a:pt x="5403" y="7597"/>
                    <a:pt x="4507" y="7597"/>
                  </a:cubicBezTo>
                  <a:cubicBezTo>
                    <a:pt x="3611" y="7597"/>
                    <a:pt x="2715" y="7258"/>
                    <a:pt x="2036" y="6579"/>
                  </a:cubicBezTo>
                  <a:cubicBezTo>
                    <a:pt x="667" y="5222"/>
                    <a:pt x="667" y="2995"/>
                    <a:pt x="2036" y="1638"/>
                  </a:cubicBezTo>
                  <a:cubicBezTo>
                    <a:pt x="2715" y="953"/>
                    <a:pt x="3611" y="611"/>
                    <a:pt x="4507" y="611"/>
                  </a:cubicBezTo>
                  <a:close/>
                  <a:moveTo>
                    <a:pt x="8299" y="7365"/>
                  </a:moveTo>
                  <a:lnTo>
                    <a:pt x="9537" y="8603"/>
                  </a:lnTo>
                  <a:lnTo>
                    <a:pt x="9002" y="9139"/>
                  </a:lnTo>
                  <a:lnTo>
                    <a:pt x="7763" y="7901"/>
                  </a:lnTo>
                  <a:lnTo>
                    <a:pt x="8299" y="7365"/>
                  </a:lnTo>
                  <a:close/>
                  <a:moveTo>
                    <a:pt x="4507" y="1"/>
                  </a:moveTo>
                  <a:cubicBezTo>
                    <a:pt x="3456" y="1"/>
                    <a:pt x="2405" y="400"/>
                    <a:pt x="1608" y="1197"/>
                  </a:cubicBezTo>
                  <a:cubicBezTo>
                    <a:pt x="0" y="2805"/>
                    <a:pt x="0" y="5412"/>
                    <a:pt x="1608" y="7008"/>
                  </a:cubicBezTo>
                  <a:cubicBezTo>
                    <a:pt x="2404" y="7811"/>
                    <a:pt x="3452" y="8210"/>
                    <a:pt x="4502" y="8210"/>
                  </a:cubicBezTo>
                  <a:cubicBezTo>
                    <a:pt x="5445" y="8210"/>
                    <a:pt x="6390" y="7888"/>
                    <a:pt x="7156" y="7246"/>
                  </a:cubicBezTo>
                  <a:lnTo>
                    <a:pt x="7358" y="7448"/>
                  </a:lnTo>
                  <a:lnTo>
                    <a:pt x="6894" y="7901"/>
                  </a:lnTo>
                  <a:lnTo>
                    <a:pt x="9002" y="10008"/>
                  </a:lnTo>
                  <a:lnTo>
                    <a:pt x="10406" y="8603"/>
                  </a:lnTo>
                  <a:lnTo>
                    <a:pt x="8299" y="6496"/>
                  </a:lnTo>
                  <a:lnTo>
                    <a:pt x="7835" y="6960"/>
                  </a:lnTo>
                  <a:lnTo>
                    <a:pt x="7644" y="6758"/>
                  </a:lnTo>
                  <a:cubicBezTo>
                    <a:pt x="9002" y="5150"/>
                    <a:pt x="8930" y="2721"/>
                    <a:pt x="7406" y="1197"/>
                  </a:cubicBezTo>
                  <a:cubicBezTo>
                    <a:pt x="6608" y="400"/>
                    <a:pt x="5558" y="1"/>
                    <a:pt x="4507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anchorCtr="0" anchor="ctr" bIns="81725" lIns="81725" spcFirstLastPara="1" rIns="81725" wrap="square" tIns="81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35"/>
            <p:cNvSpPr txBox="1"/>
            <p:nvPr/>
          </p:nvSpPr>
          <p:spPr>
            <a:xfrm>
              <a:off x="5354475" y="1550190"/>
              <a:ext cx="13059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1725" lIns="81725" spcFirstLastPara="1" rIns="81725" wrap="square" tIns="817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72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…………………</a:t>
              </a:r>
              <a:endParaRPr sz="1072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72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15" name="Google Shape;315;p35"/>
            <p:cNvSpPr txBox="1"/>
            <p:nvPr/>
          </p:nvSpPr>
          <p:spPr>
            <a:xfrm>
              <a:off x="5354475" y="1203350"/>
              <a:ext cx="13059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1725" lIns="81725" spcFirstLastPara="1" rIns="81725" wrap="square" tIns="817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519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—-----</a:t>
              </a:r>
              <a:endParaRPr sz="1519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316" name="Google Shape;316;p35"/>
          <p:cNvGrpSpPr/>
          <p:nvPr/>
        </p:nvGrpSpPr>
        <p:grpSpPr>
          <a:xfrm>
            <a:off x="1318968" y="1828174"/>
            <a:ext cx="1681759" cy="1592225"/>
            <a:chOff x="1634188" y="2443825"/>
            <a:chExt cx="1881163" cy="1781012"/>
          </a:xfrm>
        </p:grpSpPr>
        <p:sp>
          <p:nvSpPr>
            <p:cNvPr id="317" name="Google Shape;317;p35"/>
            <p:cNvSpPr/>
            <p:nvPr/>
          </p:nvSpPr>
          <p:spPr>
            <a:xfrm>
              <a:off x="3035500" y="2993300"/>
              <a:ext cx="230100" cy="1120100"/>
            </a:xfrm>
            <a:custGeom>
              <a:rect b="b" l="l" r="r" t="t"/>
              <a:pathLst>
                <a:path extrusionOk="0" h="44804" w="9204">
                  <a:moveTo>
                    <a:pt x="7097" y="0"/>
                  </a:moveTo>
                  <a:cubicBezTo>
                    <a:pt x="2810" y="2143"/>
                    <a:pt x="0" y="6549"/>
                    <a:pt x="0" y="11514"/>
                  </a:cubicBezTo>
                  <a:lnTo>
                    <a:pt x="0" y="44803"/>
                  </a:lnTo>
                  <a:lnTo>
                    <a:pt x="2179" y="44803"/>
                  </a:lnTo>
                  <a:lnTo>
                    <a:pt x="2179" y="11514"/>
                  </a:lnTo>
                  <a:cubicBezTo>
                    <a:pt x="2179" y="6965"/>
                    <a:pt x="5025" y="2989"/>
                    <a:pt x="9204" y="1477"/>
                  </a:cubicBezTo>
                  <a:lnTo>
                    <a:pt x="9204" y="0"/>
                  </a:lnTo>
                  <a:close/>
                </a:path>
              </a:pathLst>
            </a:custGeom>
            <a:solidFill>
              <a:srgbClr val="4949E7"/>
            </a:solidFill>
            <a:ln>
              <a:noFill/>
            </a:ln>
          </p:spPr>
          <p:txBody>
            <a:bodyPr anchorCtr="0" anchor="ctr" bIns="81725" lIns="81725" spcFirstLastPara="1" rIns="81725" wrap="square" tIns="81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35"/>
            <p:cNvSpPr/>
            <p:nvPr/>
          </p:nvSpPr>
          <p:spPr>
            <a:xfrm>
              <a:off x="2275275" y="2443825"/>
              <a:ext cx="1240075" cy="589075"/>
            </a:xfrm>
            <a:custGeom>
              <a:rect b="b" l="l" r="r" t="t"/>
              <a:pathLst>
                <a:path extrusionOk="0" h="23563" w="49603">
                  <a:moveTo>
                    <a:pt x="1" y="0"/>
                  </a:moveTo>
                  <a:cubicBezTo>
                    <a:pt x="4621" y="1917"/>
                    <a:pt x="7871" y="6477"/>
                    <a:pt x="7871" y="11788"/>
                  </a:cubicBezTo>
                  <a:cubicBezTo>
                    <a:pt x="7871" y="17098"/>
                    <a:pt x="4621" y="21646"/>
                    <a:pt x="1" y="23563"/>
                  </a:cubicBezTo>
                  <a:lnTo>
                    <a:pt x="37827" y="23563"/>
                  </a:lnTo>
                  <a:cubicBezTo>
                    <a:pt x="44328" y="23563"/>
                    <a:pt x="49602" y="18288"/>
                    <a:pt x="49602" y="11788"/>
                  </a:cubicBezTo>
                  <a:cubicBezTo>
                    <a:pt x="49602" y="5275"/>
                    <a:pt x="44328" y="0"/>
                    <a:pt x="37827" y="0"/>
                  </a:cubicBezTo>
                  <a:close/>
                </a:path>
              </a:pathLst>
            </a:custGeom>
            <a:solidFill>
              <a:srgbClr val="4949E7"/>
            </a:solidFill>
            <a:ln>
              <a:noFill/>
            </a:ln>
          </p:spPr>
          <p:txBody>
            <a:bodyPr anchorCtr="0" anchor="ctr" bIns="81725" lIns="81725" spcFirstLastPara="1" rIns="81725" wrap="square" tIns="817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519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Data sourcing</a:t>
              </a:r>
              <a:endParaRPr sz="1519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319" name="Google Shape;319;p35"/>
            <p:cNvSpPr/>
            <p:nvPr/>
          </p:nvSpPr>
          <p:spPr>
            <a:xfrm>
              <a:off x="3219450" y="3823750"/>
              <a:ext cx="289350" cy="289650"/>
            </a:xfrm>
            <a:custGeom>
              <a:rect b="b" l="l" r="r" t="t"/>
              <a:pathLst>
                <a:path extrusionOk="0" h="11586" w="11574">
                  <a:moveTo>
                    <a:pt x="5787" y="620"/>
                  </a:moveTo>
                  <a:cubicBezTo>
                    <a:pt x="8633" y="620"/>
                    <a:pt x="10954" y="2941"/>
                    <a:pt x="10954" y="5799"/>
                  </a:cubicBezTo>
                  <a:cubicBezTo>
                    <a:pt x="10954" y="8645"/>
                    <a:pt x="8633" y="10966"/>
                    <a:pt x="5787" y="10966"/>
                  </a:cubicBezTo>
                  <a:cubicBezTo>
                    <a:pt x="2929" y="10966"/>
                    <a:pt x="608" y="8645"/>
                    <a:pt x="608" y="5799"/>
                  </a:cubicBezTo>
                  <a:cubicBezTo>
                    <a:pt x="608" y="2941"/>
                    <a:pt x="2929" y="620"/>
                    <a:pt x="5787" y="620"/>
                  </a:cubicBezTo>
                  <a:close/>
                  <a:moveTo>
                    <a:pt x="5787" y="1"/>
                  </a:moveTo>
                  <a:cubicBezTo>
                    <a:pt x="2596" y="1"/>
                    <a:pt x="1" y="2596"/>
                    <a:pt x="1" y="5799"/>
                  </a:cubicBezTo>
                  <a:cubicBezTo>
                    <a:pt x="1" y="8990"/>
                    <a:pt x="2596" y="11585"/>
                    <a:pt x="5787" y="11585"/>
                  </a:cubicBezTo>
                  <a:cubicBezTo>
                    <a:pt x="8978" y="11585"/>
                    <a:pt x="11573" y="8990"/>
                    <a:pt x="11573" y="5799"/>
                  </a:cubicBezTo>
                  <a:cubicBezTo>
                    <a:pt x="11573" y="2596"/>
                    <a:pt x="8978" y="1"/>
                    <a:pt x="5787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anchorCtr="0" anchor="ctr" bIns="81725" lIns="81725" spcFirstLastPara="1" rIns="81725" wrap="square" tIns="81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35"/>
            <p:cNvSpPr/>
            <p:nvPr/>
          </p:nvSpPr>
          <p:spPr>
            <a:xfrm>
              <a:off x="3298025" y="3870175"/>
              <a:ext cx="130700" cy="208400"/>
            </a:xfrm>
            <a:custGeom>
              <a:rect b="b" l="l" r="r" t="t"/>
              <a:pathLst>
                <a:path extrusionOk="0" h="8336" w="5228">
                  <a:moveTo>
                    <a:pt x="2299" y="1227"/>
                  </a:moveTo>
                  <a:lnTo>
                    <a:pt x="2299" y="3668"/>
                  </a:lnTo>
                  <a:cubicBezTo>
                    <a:pt x="2156" y="3632"/>
                    <a:pt x="2096" y="3609"/>
                    <a:pt x="2001" y="3573"/>
                  </a:cubicBezTo>
                  <a:cubicBezTo>
                    <a:pt x="1751" y="3501"/>
                    <a:pt x="1560" y="3418"/>
                    <a:pt x="1406" y="3323"/>
                  </a:cubicBezTo>
                  <a:cubicBezTo>
                    <a:pt x="1263" y="3228"/>
                    <a:pt x="1144" y="3120"/>
                    <a:pt x="1072" y="2989"/>
                  </a:cubicBezTo>
                  <a:cubicBezTo>
                    <a:pt x="1001" y="2847"/>
                    <a:pt x="965" y="2680"/>
                    <a:pt x="965" y="2477"/>
                  </a:cubicBezTo>
                  <a:cubicBezTo>
                    <a:pt x="965" y="2085"/>
                    <a:pt x="1084" y="1775"/>
                    <a:pt x="1358" y="1549"/>
                  </a:cubicBezTo>
                  <a:cubicBezTo>
                    <a:pt x="1584" y="1370"/>
                    <a:pt x="1846" y="1263"/>
                    <a:pt x="2299" y="1227"/>
                  </a:cubicBezTo>
                  <a:close/>
                  <a:moveTo>
                    <a:pt x="2894" y="4478"/>
                  </a:moveTo>
                  <a:cubicBezTo>
                    <a:pt x="3049" y="4513"/>
                    <a:pt x="3204" y="4549"/>
                    <a:pt x="3335" y="4585"/>
                  </a:cubicBezTo>
                  <a:cubicBezTo>
                    <a:pt x="3585" y="4668"/>
                    <a:pt x="3811" y="4752"/>
                    <a:pt x="3989" y="4859"/>
                  </a:cubicBezTo>
                  <a:cubicBezTo>
                    <a:pt x="4168" y="4966"/>
                    <a:pt x="4299" y="5097"/>
                    <a:pt x="4382" y="5240"/>
                  </a:cubicBezTo>
                  <a:cubicBezTo>
                    <a:pt x="4478" y="5383"/>
                    <a:pt x="4501" y="5561"/>
                    <a:pt x="4501" y="5775"/>
                  </a:cubicBezTo>
                  <a:cubicBezTo>
                    <a:pt x="4501" y="6168"/>
                    <a:pt x="4347" y="6466"/>
                    <a:pt x="4037" y="6668"/>
                  </a:cubicBezTo>
                  <a:cubicBezTo>
                    <a:pt x="3763" y="6835"/>
                    <a:pt x="3489" y="6942"/>
                    <a:pt x="2894" y="6954"/>
                  </a:cubicBezTo>
                  <a:lnTo>
                    <a:pt x="2894" y="4478"/>
                  </a:lnTo>
                  <a:close/>
                  <a:moveTo>
                    <a:pt x="2299" y="1"/>
                  </a:moveTo>
                  <a:lnTo>
                    <a:pt x="2299" y="632"/>
                  </a:lnTo>
                  <a:cubicBezTo>
                    <a:pt x="2144" y="644"/>
                    <a:pt x="1894" y="680"/>
                    <a:pt x="1715" y="739"/>
                  </a:cubicBezTo>
                  <a:cubicBezTo>
                    <a:pt x="1418" y="823"/>
                    <a:pt x="1168" y="953"/>
                    <a:pt x="953" y="1108"/>
                  </a:cubicBezTo>
                  <a:cubicBezTo>
                    <a:pt x="727" y="1275"/>
                    <a:pt x="572" y="1489"/>
                    <a:pt x="453" y="1727"/>
                  </a:cubicBezTo>
                  <a:cubicBezTo>
                    <a:pt x="334" y="1977"/>
                    <a:pt x="275" y="2263"/>
                    <a:pt x="275" y="2573"/>
                  </a:cubicBezTo>
                  <a:cubicBezTo>
                    <a:pt x="275" y="2847"/>
                    <a:pt x="322" y="3085"/>
                    <a:pt x="417" y="3275"/>
                  </a:cubicBezTo>
                  <a:cubicBezTo>
                    <a:pt x="501" y="3466"/>
                    <a:pt x="644" y="3620"/>
                    <a:pt x="834" y="3763"/>
                  </a:cubicBezTo>
                  <a:cubicBezTo>
                    <a:pt x="1013" y="3894"/>
                    <a:pt x="1227" y="4001"/>
                    <a:pt x="1501" y="4097"/>
                  </a:cubicBezTo>
                  <a:cubicBezTo>
                    <a:pt x="1739" y="4180"/>
                    <a:pt x="2001" y="4252"/>
                    <a:pt x="2299" y="4323"/>
                  </a:cubicBezTo>
                  <a:lnTo>
                    <a:pt x="2299" y="6930"/>
                  </a:lnTo>
                  <a:cubicBezTo>
                    <a:pt x="2299" y="6918"/>
                    <a:pt x="2120" y="6907"/>
                    <a:pt x="2025" y="6883"/>
                  </a:cubicBezTo>
                  <a:cubicBezTo>
                    <a:pt x="1787" y="6835"/>
                    <a:pt x="1572" y="6776"/>
                    <a:pt x="1358" y="6680"/>
                  </a:cubicBezTo>
                  <a:cubicBezTo>
                    <a:pt x="1156" y="6597"/>
                    <a:pt x="965" y="6490"/>
                    <a:pt x="798" y="6383"/>
                  </a:cubicBezTo>
                  <a:cubicBezTo>
                    <a:pt x="620" y="6264"/>
                    <a:pt x="477" y="6145"/>
                    <a:pt x="358" y="6014"/>
                  </a:cubicBezTo>
                  <a:lnTo>
                    <a:pt x="1" y="6561"/>
                  </a:lnTo>
                  <a:cubicBezTo>
                    <a:pt x="668" y="7133"/>
                    <a:pt x="1406" y="7454"/>
                    <a:pt x="2299" y="7538"/>
                  </a:cubicBezTo>
                  <a:lnTo>
                    <a:pt x="2299" y="8335"/>
                  </a:lnTo>
                  <a:lnTo>
                    <a:pt x="2894" y="8335"/>
                  </a:lnTo>
                  <a:lnTo>
                    <a:pt x="2894" y="7550"/>
                  </a:lnTo>
                  <a:cubicBezTo>
                    <a:pt x="3192" y="7538"/>
                    <a:pt x="3489" y="7502"/>
                    <a:pt x="3739" y="7442"/>
                  </a:cubicBezTo>
                  <a:cubicBezTo>
                    <a:pt x="4037" y="7371"/>
                    <a:pt x="4311" y="7252"/>
                    <a:pt x="4525" y="7097"/>
                  </a:cubicBezTo>
                  <a:cubicBezTo>
                    <a:pt x="4751" y="6942"/>
                    <a:pt x="4930" y="6752"/>
                    <a:pt x="5049" y="6526"/>
                  </a:cubicBezTo>
                  <a:cubicBezTo>
                    <a:pt x="5168" y="6287"/>
                    <a:pt x="5228" y="6026"/>
                    <a:pt x="5228" y="5704"/>
                  </a:cubicBezTo>
                  <a:cubicBezTo>
                    <a:pt x="5228" y="5395"/>
                    <a:pt x="5180" y="5144"/>
                    <a:pt x="5073" y="4930"/>
                  </a:cubicBezTo>
                  <a:cubicBezTo>
                    <a:pt x="4966" y="4728"/>
                    <a:pt x="4811" y="4549"/>
                    <a:pt x="4597" y="4406"/>
                  </a:cubicBezTo>
                  <a:cubicBezTo>
                    <a:pt x="4394" y="4263"/>
                    <a:pt x="4120" y="4144"/>
                    <a:pt x="3823" y="4049"/>
                  </a:cubicBezTo>
                  <a:cubicBezTo>
                    <a:pt x="3561" y="3954"/>
                    <a:pt x="3335" y="3882"/>
                    <a:pt x="2894" y="3811"/>
                  </a:cubicBezTo>
                  <a:lnTo>
                    <a:pt x="2894" y="1215"/>
                  </a:lnTo>
                  <a:cubicBezTo>
                    <a:pt x="3192" y="1239"/>
                    <a:pt x="3513" y="1299"/>
                    <a:pt x="3775" y="1406"/>
                  </a:cubicBezTo>
                  <a:cubicBezTo>
                    <a:pt x="4097" y="1549"/>
                    <a:pt x="4370" y="1715"/>
                    <a:pt x="4561" y="1942"/>
                  </a:cubicBezTo>
                  <a:lnTo>
                    <a:pt x="4894" y="1394"/>
                  </a:lnTo>
                  <a:cubicBezTo>
                    <a:pt x="4608" y="1144"/>
                    <a:pt x="4263" y="953"/>
                    <a:pt x="3906" y="811"/>
                  </a:cubicBezTo>
                  <a:cubicBezTo>
                    <a:pt x="3608" y="703"/>
                    <a:pt x="3335" y="632"/>
                    <a:pt x="2894" y="620"/>
                  </a:cubicBezTo>
                  <a:lnTo>
                    <a:pt x="2894" y="1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anchorCtr="0" anchor="ctr" bIns="81725" lIns="81725" spcFirstLastPara="1" rIns="81725" wrap="square" tIns="81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35"/>
            <p:cNvSpPr txBox="1"/>
            <p:nvPr/>
          </p:nvSpPr>
          <p:spPr>
            <a:xfrm>
              <a:off x="1634188" y="3689937"/>
              <a:ext cx="14013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1725" lIns="81725" spcFirstLastPara="1" rIns="81725" wrap="square" tIns="817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72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…………………</a:t>
              </a:r>
              <a:endParaRPr sz="1072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22" name="Google Shape;322;p35"/>
            <p:cNvSpPr txBox="1"/>
            <p:nvPr/>
          </p:nvSpPr>
          <p:spPr>
            <a:xfrm>
              <a:off x="1634188" y="3343088"/>
              <a:ext cx="14013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1725" lIns="81725" spcFirstLastPara="1" rIns="81725" wrap="square" tIns="817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519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—-----</a:t>
              </a:r>
              <a:endParaRPr sz="1519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323" name="Google Shape;323;p35"/>
          <p:cNvGrpSpPr/>
          <p:nvPr/>
        </p:nvGrpSpPr>
        <p:grpSpPr>
          <a:xfrm>
            <a:off x="3403517" y="1828164"/>
            <a:ext cx="1833622" cy="1592228"/>
            <a:chOff x="4007988" y="2443822"/>
            <a:chExt cx="1922238" cy="1781015"/>
          </a:xfrm>
        </p:grpSpPr>
        <p:sp>
          <p:nvSpPr>
            <p:cNvPr id="324" name="Google Shape;324;p35"/>
            <p:cNvSpPr/>
            <p:nvPr/>
          </p:nvSpPr>
          <p:spPr>
            <a:xfrm>
              <a:off x="5409300" y="2993300"/>
              <a:ext cx="230125" cy="1120100"/>
            </a:xfrm>
            <a:custGeom>
              <a:rect b="b" l="l" r="r" t="t"/>
              <a:pathLst>
                <a:path extrusionOk="0" h="44804" w="9205">
                  <a:moveTo>
                    <a:pt x="7097" y="0"/>
                  </a:moveTo>
                  <a:cubicBezTo>
                    <a:pt x="2811" y="2143"/>
                    <a:pt x="1" y="6549"/>
                    <a:pt x="1" y="11514"/>
                  </a:cubicBezTo>
                  <a:lnTo>
                    <a:pt x="1" y="44803"/>
                  </a:lnTo>
                  <a:lnTo>
                    <a:pt x="2180" y="44803"/>
                  </a:lnTo>
                  <a:lnTo>
                    <a:pt x="2180" y="11514"/>
                  </a:lnTo>
                  <a:cubicBezTo>
                    <a:pt x="2180" y="6965"/>
                    <a:pt x="5025" y="2989"/>
                    <a:pt x="9204" y="1477"/>
                  </a:cubicBezTo>
                  <a:lnTo>
                    <a:pt x="9204" y="0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anchorCtr="0" anchor="ctr" bIns="81725" lIns="81725" spcFirstLastPara="1" rIns="81725" wrap="square" tIns="81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35"/>
            <p:cNvSpPr/>
            <p:nvPr/>
          </p:nvSpPr>
          <p:spPr>
            <a:xfrm>
              <a:off x="4802953" y="2443822"/>
              <a:ext cx="1061616" cy="589075"/>
            </a:xfrm>
            <a:custGeom>
              <a:rect b="b" l="l" r="r" t="t"/>
              <a:pathLst>
                <a:path extrusionOk="0" h="23563" w="49614">
                  <a:moveTo>
                    <a:pt x="0" y="0"/>
                  </a:moveTo>
                  <a:cubicBezTo>
                    <a:pt x="4620" y="1917"/>
                    <a:pt x="7870" y="6477"/>
                    <a:pt x="7870" y="11788"/>
                  </a:cubicBezTo>
                  <a:cubicBezTo>
                    <a:pt x="7870" y="17098"/>
                    <a:pt x="4620" y="21646"/>
                    <a:pt x="0" y="23563"/>
                  </a:cubicBezTo>
                  <a:lnTo>
                    <a:pt x="37826" y="23563"/>
                  </a:lnTo>
                  <a:cubicBezTo>
                    <a:pt x="44339" y="23563"/>
                    <a:pt x="49614" y="18288"/>
                    <a:pt x="49614" y="11788"/>
                  </a:cubicBezTo>
                  <a:cubicBezTo>
                    <a:pt x="49614" y="5275"/>
                    <a:pt x="44339" y="0"/>
                    <a:pt x="37826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anchorCtr="0" anchor="ctr" bIns="81725" lIns="81725" spcFirstLastPara="1" rIns="81725" wrap="square" tIns="817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519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Pre Training</a:t>
              </a:r>
              <a:endParaRPr sz="1519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326" name="Google Shape;326;p35"/>
            <p:cNvSpPr/>
            <p:nvPr/>
          </p:nvSpPr>
          <p:spPr>
            <a:xfrm>
              <a:off x="5668275" y="3945200"/>
              <a:ext cx="22050" cy="22050"/>
            </a:xfrm>
            <a:custGeom>
              <a:rect b="b" l="l" r="r" t="t"/>
              <a:pathLst>
                <a:path extrusionOk="0" h="882" w="882">
                  <a:moveTo>
                    <a:pt x="441" y="0"/>
                  </a:moveTo>
                  <a:cubicBezTo>
                    <a:pt x="203" y="0"/>
                    <a:pt x="0" y="203"/>
                    <a:pt x="0" y="441"/>
                  </a:cubicBezTo>
                  <a:cubicBezTo>
                    <a:pt x="0" y="691"/>
                    <a:pt x="203" y="881"/>
                    <a:pt x="441" y="881"/>
                  </a:cubicBezTo>
                  <a:cubicBezTo>
                    <a:pt x="691" y="881"/>
                    <a:pt x="881" y="691"/>
                    <a:pt x="881" y="441"/>
                  </a:cubicBezTo>
                  <a:cubicBezTo>
                    <a:pt x="881" y="203"/>
                    <a:pt x="691" y="0"/>
                    <a:pt x="441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anchorCtr="0" anchor="ctr" bIns="81725" lIns="81725" spcFirstLastPara="1" rIns="81725" wrap="square" tIns="81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35"/>
            <p:cNvSpPr/>
            <p:nvPr/>
          </p:nvSpPr>
          <p:spPr>
            <a:xfrm>
              <a:off x="5712325" y="3945200"/>
              <a:ext cx="22350" cy="22050"/>
            </a:xfrm>
            <a:custGeom>
              <a:rect b="b" l="l" r="r" t="t"/>
              <a:pathLst>
                <a:path extrusionOk="0" h="882" w="894">
                  <a:moveTo>
                    <a:pt x="441" y="0"/>
                  </a:moveTo>
                  <a:cubicBezTo>
                    <a:pt x="203" y="0"/>
                    <a:pt x="0" y="203"/>
                    <a:pt x="0" y="441"/>
                  </a:cubicBezTo>
                  <a:cubicBezTo>
                    <a:pt x="0" y="691"/>
                    <a:pt x="203" y="881"/>
                    <a:pt x="441" y="881"/>
                  </a:cubicBezTo>
                  <a:cubicBezTo>
                    <a:pt x="691" y="881"/>
                    <a:pt x="893" y="691"/>
                    <a:pt x="893" y="441"/>
                  </a:cubicBezTo>
                  <a:cubicBezTo>
                    <a:pt x="893" y="203"/>
                    <a:pt x="691" y="0"/>
                    <a:pt x="441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anchorCtr="0" anchor="ctr" bIns="81725" lIns="81725" spcFirstLastPara="1" rIns="81725" wrap="square" tIns="81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35"/>
            <p:cNvSpPr/>
            <p:nvPr/>
          </p:nvSpPr>
          <p:spPr>
            <a:xfrm>
              <a:off x="5756675" y="3945200"/>
              <a:ext cx="22050" cy="22050"/>
            </a:xfrm>
            <a:custGeom>
              <a:rect b="b" l="l" r="r" t="t"/>
              <a:pathLst>
                <a:path extrusionOk="0" h="882" w="882">
                  <a:moveTo>
                    <a:pt x="441" y="0"/>
                  </a:moveTo>
                  <a:cubicBezTo>
                    <a:pt x="191" y="0"/>
                    <a:pt x="0" y="203"/>
                    <a:pt x="0" y="441"/>
                  </a:cubicBezTo>
                  <a:cubicBezTo>
                    <a:pt x="0" y="691"/>
                    <a:pt x="191" y="881"/>
                    <a:pt x="441" y="881"/>
                  </a:cubicBezTo>
                  <a:cubicBezTo>
                    <a:pt x="679" y="881"/>
                    <a:pt x="881" y="691"/>
                    <a:pt x="881" y="441"/>
                  </a:cubicBezTo>
                  <a:cubicBezTo>
                    <a:pt x="881" y="203"/>
                    <a:pt x="679" y="0"/>
                    <a:pt x="441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anchorCtr="0" anchor="ctr" bIns="81725" lIns="81725" spcFirstLastPara="1" rIns="81725" wrap="square" tIns="81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35"/>
            <p:cNvSpPr/>
            <p:nvPr/>
          </p:nvSpPr>
          <p:spPr>
            <a:xfrm>
              <a:off x="5800725" y="3945200"/>
              <a:ext cx="22050" cy="22050"/>
            </a:xfrm>
            <a:custGeom>
              <a:rect b="b" l="l" r="r" t="t"/>
              <a:pathLst>
                <a:path extrusionOk="0" h="882" w="882">
                  <a:moveTo>
                    <a:pt x="441" y="0"/>
                  </a:moveTo>
                  <a:cubicBezTo>
                    <a:pt x="191" y="0"/>
                    <a:pt x="1" y="203"/>
                    <a:pt x="1" y="441"/>
                  </a:cubicBezTo>
                  <a:cubicBezTo>
                    <a:pt x="1" y="691"/>
                    <a:pt x="191" y="881"/>
                    <a:pt x="441" y="881"/>
                  </a:cubicBezTo>
                  <a:cubicBezTo>
                    <a:pt x="679" y="881"/>
                    <a:pt x="882" y="691"/>
                    <a:pt x="882" y="441"/>
                  </a:cubicBezTo>
                  <a:cubicBezTo>
                    <a:pt x="882" y="203"/>
                    <a:pt x="679" y="0"/>
                    <a:pt x="441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anchorCtr="0" anchor="ctr" bIns="81725" lIns="81725" spcFirstLastPara="1" rIns="81725" wrap="square" tIns="81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35"/>
            <p:cNvSpPr/>
            <p:nvPr/>
          </p:nvSpPr>
          <p:spPr>
            <a:xfrm>
              <a:off x="5614100" y="3803225"/>
              <a:ext cx="316125" cy="324450"/>
            </a:xfrm>
            <a:custGeom>
              <a:rect b="b" l="l" r="r" t="t"/>
              <a:pathLst>
                <a:path extrusionOk="0" h="12978" w="12645">
                  <a:moveTo>
                    <a:pt x="11406" y="583"/>
                  </a:moveTo>
                  <a:cubicBezTo>
                    <a:pt x="11799" y="583"/>
                    <a:pt x="12192" y="881"/>
                    <a:pt x="12192" y="1286"/>
                  </a:cubicBezTo>
                  <a:lnTo>
                    <a:pt x="12192" y="5441"/>
                  </a:lnTo>
                  <a:lnTo>
                    <a:pt x="12204" y="5441"/>
                  </a:lnTo>
                  <a:cubicBezTo>
                    <a:pt x="12204" y="5763"/>
                    <a:pt x="12026" y="5882"/>
                    <a:pt x="12026" y="5882"/>
                  </a:cubicBezTo>
                  <a:lnTo>
                    <a:pt x="11966" y="5917"/>
                  </a:lnTo>
                  <a:cubicBezTo>
                    <a:pt x="11871" y="6025"/>
                    <a:pt x="11776" y="6132"/>
                    <a:pt x="11728" y="6156"/>
                  </a:cubicBezTo>
                  <a:lnTo>
                    <a:pt x="10418" y="7180"/>
                  </a:lnTo>
                  <a:lnTo>
                    <a:pt x="10418" y="3977"/>
                  </a:lnTo>
                  <a:cubicBezTo>
                    <a:pt x="10418" y="3274"/>
                    <a:pt x="9787" y="2667"/>
                    <a:pt x="9085" y="2667"/>
                  </a:cubicBezTo>
                  <a:lnTo>
                    <a:pt x="2822" y="2667"/>
                  </a:lnTo>
                  <a:lnTo>
                    <a:pt x="2822" y="1286"/>
                  </a:lnTo>
                  <a:cubicBezTo>
                    <a:pt x="2822" y="881"/>
                    <a:pt x="3120" y="583"/>
                    <a:pt x="3525" y="583"/>
                  </a:cubicBezTo>
                  <a:close/>
                  <a:moveTo>
                    <a:pt x="9085" y="3274"/>
                  </a:moveTo>
                  <a:cubicBezTo>
                    <a:pt x="9466" y="3274"/>
                    <a:pt x="9823" y="3596"/>
                    <a:pt x="9823" y="3977"/>
                  </a:cubicBezTo>
                  <a:lnTo>
                    <a:pt x="9823" y="8144"/>
                  </a:lnTo>
                  <a:cubicBezTo>
                    <a:pt x="9823" y="8442"/>
                    <a:pt x="9668" y="8561"/>
                    <a:pt x="9668" y="8561"/>
                  </a:cubicBezTo>
                  <a:lnTo>
                    <a:pt x="9621" y="8608"/>
                  </a:lnTo>
                  <a:cubicBezTo>
                    <a:pt x="9525" y="8704"/>
                    <a:pt x="9371" y="8823"/>
                    <a:pt x="9335" y="8846"/>
                  </a:cubicBezTo>
                  <a:lnTo>
                    <a:pt x="5358" y="11835"/>
                  </a:lnTo>
                  <a:lnTo>
                    <a:pt x="5358" y="8775"/>
                  </a:lnTo>
                  <a:lnTo>
                    <a:pt x="1203" y="8775"/>
                  </a:lnTo>
                  <a:cubicBezTo>
                    <a:pt x="810" y="8775"/>
                    <a:pt x="441" y="8525"/>
                    <a:pt x="441" y="8144"/>
                  </a:cubicBezTo>
                  <a:lnTo>
                    <a:pt x="441" y="3977"/>
                  </a:lnTo>
                  <a:cubicBezTo>
                    <a:pt x="441" y="3596"/>
                    <a:pt x="810" y="3274"/>
                    <a:pt x="1203" y="3274"/>
                  </a:cubicBezTo>
                  <a:close/>
                  <a:moveTo>
                    <a:pt x="3525" y="0"/>
                  </a:moveTo>
                  <a:cubicBezTo>
                    <a:pt x="2834" y="0"/>
                    <a:pt x="2227" y="595"/>
                    <a:pt x="2227" y="1286"/>
                  </a:cubicBezTo>
                  <a:lnTo>
                    <a:pt x="2227" y="2679"/>
                  </a:lnTo>
                  <a:lnTo>
                    <a:pt x="1203" y="2679"/>
                  </a:lnTo>
                  <a:cubicBezTo>
                    <a:pt x="500" y="2679"/>
                    <a:pt x="0" y="3274"/>
                    <a:pt x="0" y="3977"/>
                  </a:cubicBezTo>
                  <a:lnTo>
                    <a:pt x="0" y="8144"/>
                  </a:lnTo>
                  <a:cubicBezTo>
                    <a:pt x="0" y="8846"/>
                    <a:pt x="500" y="9370"/>
                    <a:pt x="1203" y="9370"/>
                  </a:cubicBezTo>
                  <a:lnTo>
                    <a:pt x="4906" y="9370"/>
                  </a:lnTo>
                  <a:lnTo>
                    <a:pt x="4906" y="12978"/>
                  </a:lnTo>
                  <a:lnTo>
                    <a:pt x="9680" y="9323"/>
                  </a:lnTo>
                  <a:cubicBezTo>
                    <a:pt x="9799" y="9251"/>
                    <a:pt x="9978" y="9085"/>
                    <a:pt x="10061" y="9001"/>
                  </a:cubicBezTo>
                  <a:cubicBezTo>
                    <a:pt x="10144" y="8918"/>
                    <a:pt x="10406" y="8656"/>
                    <a:pt x="10406" y="8144"/>
                  </a:cubicBezTo>
                  <a:lnTo>
                    <a:pt x="10406" y="7834"/>
                  </a:lnTo>
                  <a:lnTo>
                    <a:pt x="11990" y="6608"/>
                  </a:lnTo>
                  <a:cubicBezTo>
                    <a:pt x="12109" y="6537"/>
                    <a:pt x="12252" y="6370"/>
                    <a:pt x="12335" y="6287"/>
                  </a:cubicBezTo>
                  <a:cubicBezTo>
                    <a:pt x="12419" y="6203"/>
                    <a:pt x="12645" y="5953"/>
                    <a:pt x="12645" y="5441"/>
                  </a:cubicBezTo>
                  <a:lnTo>
                    <a:pt x="12645" y="1286"/>
                  </a:lnTo>
                  <a:cubicBezTo>
                    <a:pt x="12645" y="595"/>
                    <a:pt x="12097" y="0"/>
                    <a:pt x="11406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anchorCtr="0" anchor="ctr" bIns="81725" lIns="81725" spcFirstLastPara="1" rIns="81725" wrap="square" tIns="81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35"/>
            <p:cNvSpPr txBox="1"/>
            <p:nvPr/>
          </p:nvSpPr>
          <p:spPr>
            <a:xfrm>
              <a:off x="4007988" y="3689937"/>
              <a:ext cx="14013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1725" lIns="81725" spcFirstLastPara="1" rIns="81725" wrap="square" tIns="817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72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…………………</a:t>
              </a:r>
              <a:endParaRPr sz="1072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32" name="Google Shape;332;p35"/>
            <p:cNvSpPr txBox="1"/>
            <p:nvPr/>
          </p:nvSpPr>
          <p:spPr>
            <a:xfrm>
              <a:off x="4007988" y="3343088"/>
              <a:ext cx="14013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1725" lIns="81725" spcFirstLastPara="1" rIns="81725" wrap="square" tIns="817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519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—-----</a:t>
              </a:r>
              <a:endParaRPr sz="1519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333" name="Google Shape;333;p35"/>
          <p:cNvGrpSpPr/>
          <p:nvPr/>
        </p:nvGrpSpPr>
        <p:grpSpPr>
          <a:xfrm>
            <a:off x="5674121" y="1828131"/>
            <a:ext cx="1661410" cy="1592227"/>
            <a:chOff x="6504984" y="2443823"/>
            <a:chExt cx="1968961" cy="1781014"/>
          </a:xfrm>
        </p:grpSpPr>
        <p:sp>
          <p:nvSpPr>
            <p:cNvPr id="334" name="Google Shape;334;p35"/>
            <p:cNvSpPr/>
            <p:nvPr/>
          </p:nvSpPr>
          <p:spPr>
            <a:xfrm>
              <a:off x="7999353" y="2987450"/>
              <a:ext cx="230100" cy="1120100"/>
            </a:xfrm>
            <a:custGeom>
              <a:rect b="b" l="l" r="r" t="t"/>
              <a:pathLst>
                <a:path extrusionOk="0" h="44804" w="9204">
                  <a:moveTo>
                    <a:pt x="7096" y="0"/>
                  </a:moveTo>
                  <a:cubicBezTo>
                    <a:pt x="2810" y="2143"/>
                    <a:pt x="0" y="6549"/>
                    <a:pt x="0" y="11514"/>
                  </a:cubicBezTo>
                  <a:lnTo>
                    <a:pt x="0" y="44803"/>
                  </a:lnTo>
                  <a:lnTo>
                    <a:pt x="2179" y="44803"/>
                  </a:lnTo>
                  <a:lnTo>
                    <a:pt x="2179" y="11514"/>
                  </a:lnTo>
                  <a:cubicBezTo>
                    <a:pt x="2179" y="6965"/>
                    <a:pt x="5025" y="2989"/>
                    <a:pt x="9204" y="1477"/>
                  </a:cubicBezTo>
                  <a:lnTo>
                    <a:pt x="9204" y="0"/>
                  </a:lnTo>
                  <a:close/>
                </a:path>
              </a:pathLst>
            </a:custGeom>
            <a:solidFill>
              <a:srgbClr val="FCBD24"/>
            </a:solidFill>
            <a:ln>
              <a:noFill/>
            </a:ln>
          </p:spPr>
          <p:txBody>
            <a:bodyPr anchorCtr="0" anchor="ctr" bIns="81725" lIns="81725" spcFirstLastPara="1" rIns="81725" wrap="square" tIns="81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35"/>
            <p:cNvSpPr/>
            <p:nvPr/>
          </p:nvSpPr>
          <p:spPr>
            <a:xfrm>
              <a:off x="7214618" y="2443823"/>
              <a:ext cx="1259327" cy="589075"/>
            </a:xfrm>
            <a:custGeom>
              <a:rect b="b" l="l" r="r" t="t"/>
              <a:pathLst>
                <a:path extrusionOk="0" h="23563" w="49614">
                  <a:moveTo>
                    <a:pt x="1" y="0"/>
                  </a:moveTo>
                  <a:cubicBezTo>
                    <a:pt x="4620" y="1917"/>
                    <a:pt x="7871" y="6477"/>
                    <a:pt x="7871" y="11788"/>
                  </a:cubicBezTo>
                  <a:cubicBezTo>
                    <a:pt x="7871" y="17098"/>
                    <a:pt x="4620" y="21646"/>
                    <a:pt x="1" y="23563"/>
                  </a:cubicBezTo>
                  <a:lnTo>
                    <a:pt x="37827" y="23563"/>
                  </a:lnTo>
                  <a:cubicBezTo>
                    <a:pt x="44340" y="23563"/>
                    <a:pt x="49614" y="18288"/>
                    <a:pt x="49614" y="11788"/>
                  </a:cubicBezTo>
                  <a:cubicBezTo>
                    <a:pt x="49614" y="5275"/>
                    <a:pt x="44340" y="0"/>
                    <a:pt x="37827" y="0"/>
                  </a:cubicBezTo>
                  <a:close/>
                </a:path>
              </a:pathLst>
            </a:custGeom>
            <a:solidFill>
              <a:srgbClr val="FCBD24"/>
            </a:solidFill>
            <a:ln>
              <a:noFill/>
            </a:ln>
          </p:spPr>
          <p:txBody>
            <a:bodyPr anchorCtr="0" anchor="ctr" bIns="81725" lIns="81725" spcFirstLastPara="1" rIns="81725" wrap="square" tIns="817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519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Model Testing</a:t>
              </a:r>
              <a:endParaRPr sz="1519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336" name="Google Shape;336;p35"/>
            <p:cNvSpPr/>
            <p:nvPr/>
          </p:nvSpPr>
          <p:spPr>
            <a:xfrm>
              <a:off x="8068897" y="3840425"/>
              <a:ext cx="282800" cy="278925"/>
            </a:xfrm>
            <a:custGeom>
              <a:rect b="b" l="l" r="r" t="t"/>
              <a:pathLst>
                <a:path extrusionOk="0" h="11157" w="11312">
                  <a:moveTo>
                    <a:pt x="9918" y="596"/>
                  </a:moveTo>
                  <a:cubicBezTo>
                    <a:pt x="10359" y="596"/>
                    <a:pt x="10716" y="941"/>
                    <a:pt x="10716" y="1381"/>
                  </a:cubicBezTo>
                  <a:lnTo>
                    <a:pt x="10716" y="6501"/>
                  </a:lnTo>
                  <a:cubicBezTo>
                    <a:pt x="10716" y="6930"/>
                    <a:pt x="10359" y="7287"/>
                    <a:pt x="9918" y="7287"/>
                  </a:cubicBezTo>
                  <a:lnTo>
                    <a:pt x="1381" y="7287"/>
                  </a:lnTo>
                  <a:cubicBezTo>
                    <a:pt x="941" y="7287"/>
                    <a:pt x="596" y="6930"/>
                    <a:pt x="596" y="6501"/>
                  </a:cubicBezTo>
                  <a:lnTo>
                    <a:pt x="596" y="1381"/>
                  </a:lnTo>
                  <a:cubicBezTo>
                    <a:pt x="596" y="941"/>
                    <a:pt x="941" y="596"/>
                    <a:pt x="1381" y="596"/>
                  </a:cubicBezTo>
                  <a:close/>
                  <a:moveTo>
                    <a:pt x="6989" y="7739"/>
                  </a:moveTo>
                  <a:lnTo>
                    <a:pt x="6989" y="9073"/>
                  </a:lnTo>
                  <a:lnTo>
                    <a:pt x="4310" y="9073"/>
                  </a:lnTo>
                  <a:lnTo>
                    <a:pt x="4310" y="7739"/>
                  </a:lnTo>
                  <a:close/>
                  <a:moveTo>
                    <a:pt x="9156" y="9668"/>
                  </a:moveTo>
                  <a:cubicBezTo>
                    <a:pt x="9490" y="9668"/>
                    <a:pt x="9823" y="9954"/>
                    <a:pt x="9823" y="10275"/>
                  </a:cubicBezTo>
                  <a:lnTo>
                    <a:pt x="9823" y="10561"/>
                  </a:lnTo>
                  <a:lnTo>
                    <a:pt x="1632" y="10561"/>
                  </a:lnTo>
                  <a:lnTo>
                    <a:pt x="1632" y="10275"/>
                  </a:lnTo>
                  <a:cubicBezTo>
                    <a:pt x="1632" y="9954"/>
                    <a:pt x="1834" y="9668"/>
                    <a:pt x="2155" y="9668"/>
                  </a:cubicBezTo>
                  <a:close/>
                  <a:moveTo>
                    <a:pt x="1393" y="0"/>
                  </a:moveTo>
                  <a:cubicBezTo>
                    <a:pt x="655" y="0"/>
                    <a:pt x="0" y="608"/>
                    <a:pt x="0" y="1358"/>
                  </a:cubicBezTo>
                  <a:lnTo>
                    <a:pt x="0" y="6430"/>
                  </a:lnTo>
                  <a:cubicBezTo>
                    <a:pt x="0" y="7168"/>
                    <a:pt x="655" y="7739"/>
                    <a:pt x="1393" y="7739"/>
                  </a:cubicBezTo>
                  <a:lnTo>
                    <a:pt x="3870" y="7739"/>
                  </a:lnTo>
                  <a:lnTo>
                    <a:pt x="3870" y="9073"/>
                  </a:lnTo>
                  <a:lnTo>
                    <a:pt x="2155" y="9073"/>
                  </a:lnTo>
                  <a:cubicBezTo>
                    <a:pt x="1512" y="9073"/>
                    <a:pt x="1036" y="9632"/>
                    <a:pt x="1036" y="10275"/>
                  </a:cubicBezTo>
                  <a:lnTo>
                    <a:pt x="1036" y="11156"/>
                  </a:lnTo>
                  <a:lnTo>
                    <a:pt x="10264" y="11156"/>
                  </a:lnTo>
                  <a:lnTo>
                    <a:pt x="10264" y="10275"/>
                  </a:lnTo>
                  <a:cubicBezTo>
                    <a:pt x="10264" y="9632"/>
                    <a:pt x="9799" y="9073"/>
                    <a:pt x="9156" y="9073"/>
                  </a:cubicBezTo>
                  <a:lnTo>
                    <a:pt x="7585" y="9073"/>
                  </a:lnTo>
                  <a:lnTo>
                    <a:pt x="7585" y="7739"/>
                  </a:lnTo>
                  <a:lnTo>
                    <a:pt x="9918" y="7739"/>
                  </a:lnTo>
                  <a:cubicBezTo>
                    <a:pt x="10668" y="7739"/>
                    <a:pt x="11311" y="7168"/>
                    <a:pt x="11311" y="6430"/>
                  </a:cubicBezTo>
                  <a:lnTo>
                    <a:pt x="11311" y="1358"/>
                  </a:lnTo>
                  <a:cubicBezTo>
                    <a:pt x="11311" y="608"/>
                    <a:pt x="10668" y="0"/>
                    <a:pt x="9918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anchorCtr="0" anchor="ctr" bIns="81725" lIns="81725" spcFirstLastPara="1" rIns="81725" wrap="square" tIns="81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35"/>
            <p:cNvSpPr/>
            <p:nvPr/>
          </p:nvSpPr>
          <p:spPr>
            <a:xfrm>
              <a:off x="8135712" y="3868945"/>
              <a:ext cx="178625" cy="115500"/>
            </a:xfrm>
            <a:custGeom>
              <a:rect b="b" l="l" r="r" t="t"/>
              <a:pathLst>
                <a:path extrusionOk="0" h="4620" w="7145">
                  <a:moveTo>
                    <a:pt x="1" y="0"/>
                  </a:moveTo>
                  <a:lnTo>
                    <a:pt x="1" y="596"/>
                  </a:lnTo>
                  <a:lnTo>
                    <a:pt x="6025" y="596"/>
                  </a:lnTo>
                  <a:cubicBezTo>
                    <a:pt x="6299" y="596"/>
                    <a:pt x="6549" y="857"/>
                    <a:pt x="6549" y="1131"/>
                  </a:cubicBezTo>
                  <a:lnTo>
                    <a:pt x="6549" y="4620"/>
                  </a:lnTo>
                  <a:lnTo>
                    <a:pt x="7145" y="4620"/>
                  </a:lnTo>
                  <a:lnTo>
                    <a:pt x="7145" y="1131"/>
                  </a:lnTo>
                  <a:cubicBezTo>
                    <a:pt x="7145" y="536"/>
                    <a:pt x="6609" y="0"/>
                    <a:pt x="6025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anchorCtr="0" anchor="ctr" bIns="81725" lIns="81725" spcFirstLastPara="1" rIns="81725" wrap="square" tIns="81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35"/>
            <p:cNvSpPr txBox="1"/>
            <p:nvPr/>
          </p:nvSpPr>
          <p:spPr>
            <a:xfrm>
              <a:off x="6504984" y="3689937"/>
              <a:ext cx="14013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1725" lIns="81725" spcFirstLastPara="1" rIns="81725" wrap="square" tIns="817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72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…………………</a:t>
              </a:r>
              <a:endParaRPr sz="1072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39" name="Google Shape;339;p35"/>
            <p:cNvSpPr txBox="1"/>
            <p:nvPr/>
          </p:nvSpPr>
          <p:spPr>
            <a:xfrm>
              <a:off x="6504984" y="3332699"/>
              <a:ext cx="14013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1725" lIns="81725" spcFirstLastPara="1" rIns="81725" wrap="square" tIns="817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519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—-----</a:t>
              </a:r>
              <a:endParaRPr sz="1519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sp>
        <p:nvSpPr>
          <p:cNvPr id="340" name="Google Shape;340;p35"/>
          <p:cNvSpPr/>
          <p:nvPr/>
        </p:nvSpPr>
        <p:spPr>
          <a:xfrm rot="10800000">
            <a:off x="3408950" y="3384575"/>
            <a:ext cx="4807200" cy="925200"/>
          </a:xfrm>
          <a:prstGeom prst="uturnArrow">
            <a:avLst>
              <a:gd fmla="val 26007" name="adj1"/>
              <a:gd fmla="val 25000" name="adj2"/>
              <a:gd fmla="val 26221" name="adj3"/>
              <a:gd fmla="val 41720" name="adj4"/>
              <a:gd fmla="val 100000" name="adj5"/>
            </a:avLst>
          </a:prstGeom>
          <a:solidFill>
            <a:srgbClr val="FFFFFF"/>
          </a:solidFill>
          <a:ln cap="flat" cmpd="sng" w="8500">
            <a:solidFill>
              <a:srgbClr val="FFC6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725" lIns="81725" spcFirstLastPara="1" rIns="81725" wrap="square" tIns="81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1"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41" name="Google Shape;341;p35"/>
          <p:cNvSpPr/>
          <p:nvPr/>
        </p:nvSpPr>
        <p:spPr>
          <a:xfrm rot="-5400000">
            <a:off x="4474880" y="3457776"/>
            <a:ext cx="879000" cy="825000"/>
          </a:xfrm>
          <a:prstGeom prst="bentArrow">
            <a:avLst>
              <a:gd fmla="val 27767" name="adj1"/>
              <a:gd fmla="val 24970" name="adj2"/>
              <a:gd fmla="val 25000" name="adj3"/>
              <a:gd fmla="val 42181" name="adj4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81725" lIns="81725" spcFirstLastPara="1" rIns="81725" wrap="square" tIns="81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1"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42" name="Google Shape;342;p35"/>
          <p:cNvSpPr/>
          <p:nvPr/>
        </p:nvSpPr>
        <p:spPr>
          <a:xfrm>
            <a:off x="6252143" y="3881838"/>
            <a:ext cx="1529700" cy="549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8500">
            <a:solidFill>
              <a:srgbClr val="FFC6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725" lIns="81725" spcFirstLastPara="1" rIns="81725" wrap="square" tIns="81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19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Performance Monitoring</a:t>
            </a:r>
            <a:endParaRPr sz="1519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343" name="Google Shape;343;p35"/>
          <p:cNvGrpSpPr/>
          <p:nvPr/>
        </p:nvGrpSpPr>
        <p:grpSpPr>
          <a:xfrm>
            <a:off x="6810893" y="719182"/>
            <a:ext cx="1814327" cy="1635618"/>
            <a:chOff x="5354475" y="1203350"/>
            <a:chExt cx="1716975" cy="1829550"/>
          </a:xfrm>
        </p:grpSpPr>
        <p:sp>
          <p:nvSpPr>
            <p:cNvPr id="344" name="Google Shape;344;p35"/>
            <p:cNvSpPr/>
            <p:nvPr/>
          </p:nvSpPr>
          <p:spPr>
            <a:xfrm>
              <a:off x="6657075" y="1382375"/>
              <a:ext cx="230425" cy="1119800"/>
            </a:xfrm>
            <a:custGeom>
              <a:rect b="b" l="l" r="r" t="t"/>
              <a:pathLst>
                <a:path extrusionOk="0" h="44792" w="9217">
                  <a:moveTo>
                    <a:pt x="1" y="1"/>
                  </a:moveTo>
                  <a:lnTo>
                    <a:pt x="1" y="33291"/>
                  </a:lnTo>
                  <a:cubicBezTo>
                    <a:pt x="1" y="38244"/>
                    <a:pt x="2823" y="42649"/>
                    <a:pt x="7097" y="44792"/>
                  </a:cubicBezTo>
                  <a:lnTo>
                    <a:pt x="9216" y="44792"/>
                  </a:lnTo>
                  <a:lnTo>
                    <a:pt x="9216" y="43328"/>
                  </a:lnTo>
                  <a:cubicBezTo>
                    <a:pt x="5025" y="41804"/>
                    <a:pt x="2192" y="37827"/>
                    <a:pt x="2192" y="33291"/>
                  </a:cubicBezTo>
                  <a:lnTo>
                    <a:pt x="2192" y="1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ctr" bIns="81725" lIns="81725" spcFirstLastPara="1" rIns="81725" wrap="square" tIns="81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35"/>
            <p:cNvSpPr/>
            <p:nvPr/>
          </p:nvSpPr>
          <p:spPr>
            <a:xfrm>
              <a:off x="5831075" y="2443825"/>
              <a:ext cx="1240375" cy="589075"/>
            </a:xfrm>
            <a:custGeom>
              <a:rect b="b" l="l" r="r" t="t"/>
              <a:pathLst>
                <a:path extrusionOk="0" h="23563" w="49615">
                  <a:moveTo>
                    <a:pt x="1" y="0"/>
                  </a:moveTo>
                  <a:cubicBezTo>
                    <a:pt x="4621" y="1917"/>
                    <a:pt x="7871" y="6477"/>
                    <a:pt x="7871" y="11788"/>
                  </a:cubicBezTo>
                  <a:cubicBezTo>
                    <a:pt x="7871" y="17098"/>
                    <a:pt x="4621" y="21646"/>
                    <a:pt x="1" y="23563"/>
                  </a:cubicBezTo>
                  <a:lnTo>
                    <a:pt x="37827" y="23563"/>
                  </a:lnTo>
                  <a:cubicBezTo>
                    <a:pt x="44340" y="23563"/>
                    <a:pt x="49614" y="18288"/>
                    <a:pt x="49614" y="11788"/>
                  </a:cubicBezTo>
                  <a:cubicBezTo>
                    <a:pt x="49614" y="5275"/>
                    <a:pt x="44340" y="0"/>
                    <a:pt x="37827" y="0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ctr" bIns="81725" lIns="81725" spcFirstLastPara="1" rIns="81725" wrap="square" tIns="817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519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Model </a:t>
              </a:r>
              <a:endParaRPr sz="1519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519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  Deployment</a:t>
              </a:r>
              <a:endParaRPr sz="1519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346" name="Google Shape;346;p35"/>
            <p:cNvSpPr txBox="1"/>
            <p:nvPr/>
          </p:nvSpPr>
          <p:spPr>
            <a:xfrm>
              <a:off x="5354475" y="1550190"/>
              <a:ext cx="13059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1725" lIns="81725" spcFirstLastPara="1" rIns="81725" wrap="square" tIns="817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72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…………………</a:t>
              </a:r>
              <a:endParaRPr sz="1072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72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47" name="Google Shape;347;p35"/>
            <p:cNvSpPr txBox="1"/>
            <p:nvPr/>
          </p:nvSpPr>
          <p:spPr>
            <a:xfrm>
              <a:off x="5354475" y="1203350"/>
              <a:ext cx="13059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1725" lIns="81725" spcFirstLastPara="1" rIns="81725" wrap="square" tIns="817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519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—-----</a:t>
              </a:r>
              <a:endParaRPr sz="1519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sp>
        <p:nvSpPr>
          <p:cNvPr id="348" name="Google Shape;348;p35"/>
          <p:cNvSpPr/>
          <p:nvPr/>
        </p:nvSpPr>
        <p:spPr>
          <a:xfrm>
            <a:off x="8331878" y="884301"/>
            <a:ext cx="215422" cy="204265"/>
          </a:xfrm>
          <a:custGeom>
            <a:rect b="b" l="l" r="r" t="t"/>
            <a:pathLst>
              <a:path extrusionOk="0" h="19325" w="19329">
                <a:moveTo>
                  <a:pt x="9062" y="1229"/>
                </a:moveTo>
                <a:lnTo>
                  <a:pt x="9062" y="4539"/>
                </a:lnTo>
                <a:cubicBezTo>
                  <a:pt x="8470" y="4557"/>
                  <a:pt x="7885" y="4602"/>
                  <a:pt x="7311" y="4674"/>
                </a:cubicBezTo>
                <a:cubicBezTo>
                  <a:pt x="7223" y="4339"/>
                  <a:pt x="7036" y="4037"/>
                  <a:pt x="6773" y="3811"/>
                </a:cubicBezTo>
                <a:cubicBezTo>
                  <a:pt x="7392" y="2428"/>
                  <a:pt x="8211" y="1513"/>
                  <a:pt x="9062" y="1229"/>
                </a:cubicBezTo>
                <a:close/>
                <a:moveTo>
                  <a:pt x="10194" y="1226"/>
                </a:moveTo>
                <a:cubicBezTo>
                  <a:pt x="11278" y="1586"/>
                  <a:pt x="12272" y="2944"/>
                  <a:pt x="12912" y="4835"/>
                </a:cubicBezTo>
                <a:cubicBezTo>
                  <a:pt x="12015" y="4662"/>
                  <a:pt x="11106" y="4566"/>
                  <a:pt x="10194" y="4539"/>
                </a:cubicBezTo>
                <a:lnTo>
                  <a:pt x="10194" y="1226"/>
                </a:lnTo>
                <a:close/>
                <a:moveTo>
                  <a:pt x="5665" y="4530"/>
                </a:moveTo>
                <a:cubicBezTo>
                  <a:pt x="6170" y="4530"/>
                  <a:pt x="6423" y="5139"/>
                  <a:pt x="6067" y="5496"/>
                </a:cubicBezTo>
                <a:cubicBezTo>
                  <a:pt x="5950" y="5611"/>
                  <a:pt x="5808" y="5663"/>
                  <a:pt x="5669" y="5663"/>
                </a:cubicBezTo>
                <a:cubicBezTo>
                  <a:pt x="5378" y="5663"/>
                  <a:pt x="5101" y="5438"/>
                  <a:pt x="5101" y="5097"/>
                </a:cubicBezTo>
                <a:cubicBezTo>
                  <a:pt x="5101" y="4783"/>
                  <a:pt x="5351" y="4530"/>
                  <a:pt x="5665" y="4530"/>
                </a:cubicBezTo>
                <a:close/>
                <a:moveTo>
                  <a:pt x="6743" y="1643"/>
                </a:moveTo>
                <a:cubicBezTo>
                  <a:pt x="6363" y="2129"/>
                  <a:pt x="6019" y="2718"/>
                  <a:pt x="5717" y="3397"/>
                </a:cubicBezTo>
                <a:lnTo>
                  <a:pt x="5665" y="3397"/>
                </a:lnTo>
                <a:cubicBezTo>
                  <a:pt x="4578" y="3397"/>
                  <a:pt x="3769" y="4406"/>
                  <a:pt x="4008" y="5469"/>
                </a:cubicBezTo>
                <a:cubicBezTo>
                  <a:pt x="3075" y="5822"/>
                  <a:pt x="2277" y="6266"/>
                  <a:pt x="1646" y="6773"/>
                </a:cubicBezTo>
                <a:cubicBezTo>
                  <a:pt x="2507" y="4394"/>
                  <a:pt x="4373" y="2516"/>
                  <a:pt x="6743" y="1643"/>
                </a:cubicBezTo>
                <a:close/>
                <a:moveTo>
                  <a:pt x="12510" y="1631"/>
                </a:moveTo>
                <a:lnTo>
                  <a:pt x="12510" y="1631"/>
                </a:lnTo>
                <a:cubicBezTo>
                  <a:pt x="14926" y="2500"/>
                  <a:pt x="16828" y="4403"/>
                  <a:pt x="17698" y="6818"/>
                </a:cubicBezTo>
                <a:cubicBezTo>
                  <a:pt x="17269" y="6483"/>
                  <a:pt x="16810" y="6196"/>
                  <a:pt x="16327" y="5955"/>
                </a:cubicBezTo>
                <a:cubicBezTo>
                  <a:pt x="15645" y="5614"/>
                  <a:pt x="14932" y="5342"/>
                  <a:pt x="14195" y="5136"/>
                </a:cubicBezTo>
                <a:cubicBezTo>
                  <a:pt x="13933" y="4203"/>
                  <a:pt x="13585" y="3349"/>
                  <a:pt x="13169" y="2612"/>
                </a:cubicBezTo>
                <a:cubicBezTo>
                  <a:pt x="12975" y="2268"/>
                  <a:pt x="12755" y="1942"/>
                  <a:pt x="12510" y="1631"/>
                </a:cubicBezTo>
                <a:close/>
                <a:moveTo>
                  <a:pt x="4636" y="6444"/>
                </a:moveTo>
                <a:cubicBezTo>
                  <a:pt x="4684" y="6483"/>
                  <a:pt x="4738" y="6519"/>
                  <a:pt x="4793" y="6553"/>
                </a:cubicBezTo>
                <a:cubicBezTo>
                  <a:pt x="4651" y="7407"/>
                  <a:pt x="4566" y="8268"/>
                  <a:pt x="4542" y="9134"/>
                </a:cubicBezTo>
                <a:lnTo>
                  <a:pt x="1230" y="9134"/>
                </a:lnTo>
                <a:cubicBezTo>
                  <a:pt x="1568" y="8083"/>
                  <a:pt x="2821" y="7081"/>
                  <a:pt x="4636" y="6444"/>
                </a:cubicBezTo>
                <a:close/>
                <a:moveTo>
                  <a:pt x="9062" y="5674"/>
                </a:moveTo>
                <a:lnTo>
                  <a:pt x="9062" y="9134"/>
                </a:lnTo>
                <a:lnTo>
                  <a:pt x="5674" y="9134"/>
                </a:lnTo>
                <a:cubicBezTo>
                  <a:pt x="5698" y="8343"/>
                  <a:pt x="5774" y="7558"/>
                  <a:pt x="5904" y="6776"/>
                </a:cubicBezTo>
                <a:lnTo>
                  <a:pt x="5904" y="6779"/>
                </a:lnTo>
                <a:cubicBezTo>
                  <a:pt x="6462" y="6698"/>
                  <a:pt x="6949" y="6344"/>
                  <a:pt x="7196" y="5834"/>
                </a:cubicBezTo>
                <a:cubicBezTo>
                  <a:pt x="7815" y="5746"/>
                  <a:pt x="8437" y="5692"/>
                  <a:pt x="9062" y="5674"/>
                </a:cubicBezTo>
                <a:close/>
                <a:moveTo>
                  <a:pt x="10194" y="5671"/>
                </a:moveTo>
                <a:cubicBezTo>
                  <a:pt x="11227" y="5701"/>
                  <a:pt x="12257" y="5834"/>
                  <a:pt x="13265" y="6063"/>
                </a:cubicBezTo>
                <a:cubicBezTo>
                  <a:pt x="13422" y="6743"/>
                  <a:pt x="13534" y="7431"/>
                  <a:pt x="13597" y="8126"/>
                </a:cubicBezTo>
                <a:cubicBezTo>
                  <a:pt x="13144" y="8310"/>
                  <a:pt x="12794" y="8675"/>
                  <a:pt x="12631" y="9134"/>
                </a:cubicBezTo>
                <a:lnTo>
                  <a:pt x="10194" y="9134"/>
                </a:lnTo>
                <a:lnTo>
                  <a:pt x="10194" y="5671"/>
                </a:lnTo>
                <a:close/>
                <a:moveTo>
                  <a:pt x="14497" y="6417"/>
                </a:moveTo>
                <a:cubicBezTo>
                  <a:pt x="14950" y="6571"/>
                  <a:pt x="15391" y="6752"/>
                  <a:pt x="15817" y="6966"/>
                </a:cubicBezTo>
                <a:cubicBezTo>
                  <a:pt x="17037" y="7585"/>
                  <a:pt x="17837" y="8352"/>
                  <a:pt x="18099" y="9137"/>
                </a:cubicBezTo>
                <a:lnTo>
                  <a:pt x="15835" y="9134"/>
                </a:lnTo>
                <a:cubicBezTo>
                  <a:pt x="15654" y="8627"/>
                  <a:pt x="15243" y="8234"/>
                  <a:pt x="14730" y="8077"/>
                </a:cubicBezTo>
                <a:cubicBezTo>
                  <a:pt x="14678" y="7519"/>
                  <a:pt x="14603" y="6966"/>
                  <a:pt x="14497" y="6417"/>
                </a:cubicBezTo>
                <a:close/>
                <a:moveTo>
                  <a:pt x="14241" y="9137"/>
                </a:moveTo>
                <a:cubicBezTo>
                  <a:pt x="14555" y="9137"/>
                  <a:pt x="14808" y="9391"/>
                  <a:pt x="14808" y="9702"/>
                </a:cubicBezTo>
                <a:cubicBezTo>
                  <a:pt x="14808" y="10016"/>
                  <a:pt x="14555" y="10270"/>
                  <a:pt x="14241" y="10270"/>
                </a:cubicBezTo>
                <a:lnTo>
                  <a:pt x="14241" y="10267"/>
                </a:lnTo>
                <a:lnTo>
                  <a:pt x="14204" y="10267"/>
                </a:lnTo>
                <a:cubicBezTo>
                  <a:pt x="13902" y="10251"/>
                  <a:pt x="13667" y="10004"/>
                  <a:pt x="13667" y="9702"/>
                </a:cubicBezTo>
                <a:cubicBezTo>
                  <a:pt x="13667" y="9403"/>
                  <a:pt x="13899" y="9155"/>
                  <a:pt x="14195" y="9137"/>
                </a:cubicBezTo>
                <a:close/>
                <a:moveTo>
                  <a:pt x="18099" y="10270"/>
                </a:moveTo>
                <a:cubicBezTo>
                  <a:pt x="17861" y="10967"/>
                  <a:pt x="17194" y="11643"/>
                  <a:pt x="16161" y="12217"/>
                </a:cubicBezTo>
                <a:cubicBezTo>
                  <a:pt x="15632" y="12504"/>
                  <a:pt x="15080" y="12742"/>
                  <a:pt x="14506" y="12930"/>
                </a:cubicBezTo>
                <a:cubicBezTo>
                  <a:pt x="14606" y="12407"/>
                  <a:pt x="14678" y="11873"/>
                  <a:pt x="14730" y="11323"/>
                </a:cubicBezTo>
                <a:lnTo>
                  <a:pt x="14730" y="11326"/>
                </a:lnTo>
                <a:cubicBezTo>
                  <a:pt x="15243" y="11166"/>
                  <a:pt x="15654" y="10774"/>
                  <a:pt x="15835" y="10270"/>
                </a:cubicBezTo>
                <a:close/>
                <a:moveTo>
                  <a:pt x="4542" y="10267"/>
                </a:moveTo>
                <a:cubicBezTo>
                  <a:pt x="4566" y="11163"/>
                  <a:pt x="4660" y="12060"/>
                  <a:pt x="4820" y="12945"/>
                </a:cubicBezTo>
                <a:cubicBezTo>
                  <a:pt x="2927" y="12320"/>
                  <a:pt x="1583" y="11351"/>
                  <a:pt x="1230" y="10267"/>
                </a:cubicBezTo>
                <a:close/>
                <a:moveTo>
                  <a:pt x="9062" y="10267"/>
                </a:moveTo>
                <a:lnTo>
                  <a:pt x="9062" y="12628"/>
                </a:lnTo>
                <a:cubicBezTo>
                  <a:pt x="8603" y="12791"/>
                  <a:pt x="8238" y="13141"/>
                  <a:pt x="8054" y="13594"/>
                </a:cubicBezTo>
                <a:cubicBezTo>
                  <a:pt x="7377" y="13534"/>
                  <a:pt x="6707" y="13428"/>
                  <a:pt x="6046" y="13280"/>
                </a:cubicBezTo>
                <a:cubicBezTo>
                  <a:pt x="5828" y="12290"/>
                  <a:pt x="5702" y="11281"/>
                  <a:pt x="5674" y="10267"/>
                </a:cubicBezTo>
                <a:close/>
                <a:moveTo>
                  <a:pt x="12631" y="10267"/>
                </a:moveTo>
                <a:cubicBezTo>
                  <a:pt x="12794" y="10725"/>
                  <a:pt x="13144" y="11091"/>
                  <a:pt x="13597" y="11275"/>
                </a:cubicBezTo>
                <a:cubicBezTo>
                  <a:pt x="13534" y="11945"/>
                  <a:pt x="13431" y="12613"/>
                  <a:pt x="13280" y="13268"/>
                </a:cubicBezTo>
                <a:cubicBezTo>
                  <a:pt x="12595" y="13422"/>
                  <a:pt x="11900" y="13531"/>
                  <a:pt x="11203" y="13594"/>
                </a:cubicBezTo>
                <a:cubicBezTo>
                  <a:pt x="11019" y="13141"/>
                  <a:pt x="10653" y="12791"/>
                  <a:pt x="10194" y="12628"/>
                </a:cubicBezTo>
                <a:lnTo>
                  <a:pt x="10194" y="10267"/>
                </a:lnTo>
                <a:close/>
                <a:moveTo>
                  <a:pt x="9627" y="13678"/>
                </a:moveTo>
                <a:cubicBezTo>
                  <a:pt x="9923" y="13678"/>
                  <a:pt x="10170" y="13905"/>
                  <a:pt x="10191" y="14201"/>
                </a:cubicBezTo>
                <a:lnTo>
                  <a:pt x="10191" y="14231"/>
                </a:lnTo>
                <a:cubicBezTo>
                  <a:pt x="10191" y="14231"/>
                  <a:pt x="10191" y="14234"/>
                  <a:pt x="10191" y="14237"/>
                </a:cubicBezTo>
                <a:cubicBezTo>
                  <a:pt x="10188" y="14545"/>
                  <a:pt x="9938" y="14793"/>
                  <a:pt x="9630" y="14796"/>
                </a:cubicBezTo>
                <a:cubicBezTo>
                  <a:pt x="9319" y="14796"/>
                  <a:pt x="9065" y="14545"/>
                  <a:pt x="9062" y="14237"/>
                </a:cubicBezTo>
                <a:lnTo>
                  <a:pt x="9062" y="14231"/>
                </a:lnTo>
                <a:lnTo>
                  <a:pt x="9062" y="14201"/>
                </a:lnTo>
                <a:cubicBezTo>
                  <a:pt x="9083" y="13905"/>
                  <a:pt x="9331" y="13678"/>
                  <a:pt x="9627" y="13678"/>
                </a:cubicBezTo>
                <a:close/>
                <a:moveTo>
                  <a:pt x="1640" y="12579"/>
                </a:moveTo>
                <a:lnTo>
                  <a:pt x="1640" y="12579"/>
                </a:lnTo>
                <a:cubicBezTo>
                  <a:pt x="1936" y="12812"/>
                  <a:pt x="2250" y="13020"/>
                  <a:pt x="2579" y="13204"/>
                </a:cubicBezTo>
                <a:cubicBezTo>
                  <a:pt x="3313" y="13615"/>
                  <a:pt x="4168" y="13953"/>
                  <a:pt x="5110" y="14213"/>
                </a:cubicBezTo>
                <a:cubicBezTo>
                  <a:pt x="5496" y="15620"/>
                  <a:pt x="6061" y="16813"/>
                  <a:pt x="6752" y="17691"/>
                </a:cubicBezTo>
                <a:cubicBezTo>
                  <a:pt x="4373" y="16828"/>
                  <a:pt x="2501" y="14956"/>
                  <a:pt x="1640" y="12579"/>
                </a:cubicBezTo>
                <a:close/>
                <a:moveTo>
                  <a:pt x="17698" y="12555"/>
                </a:moveTo>
                <a:cubicBezTo>
                  <a:pt x="16837" y="14938"/>
                  <a:pt x="14932" y="16831"/>
                  <a:pt x="12535" y="17691"/>
                </a:cubicBezTo>
                <a:cubicBezTo>
                  <a:pt x="12770" y="17395"/>
                  <a:pt x="12981" y="17081"/>
                  <a:pt x="13169" y="16752"/>
                </a:cubicBezTo>
                <a:cubicBezTo>
                  <a:pt x="13594" y="16013"/>
                  <a:pt x="13945" y="15149"/>
                  <a:pt x="14213" y="14201"/>
                </a:cubicBezTo>
                <a:cubicBezTo>
                  <a:pt x="15140" y="13944"/>
                  <a:pt x="15986" y="13609"/>
                  <a:pt x="16713" y="13204"/>
                </a:cubicBezTo>
                <a:cubicBezTo>
                  <a:pt x="17058" y="13014"/>
                  <a:pt x="17387" y="12797"/>
                  <a:pt x="17698" y="12555"/>
                </a:cubicBezTo>
                <a:close/>
                <a:moveTo>
                  <a:pt x="6381" y="14503"/>
                </a:moveTo>
                <a:cubicBezTo>
                  <a:pt x="6906" y="14602"/>
                  <a:pt x="7450" y="14678"/>
                  <a:pt x="8005" y="14726"/>
                </a:cubicBezTo>
                <a:cubicBezTo>
                  <a:pt x="8162" y="15240"/>
                  <a:pt x="8555" y="15650"/>
                  <a:pt x="9062" y="15831"/>
                </a:cubicBezTo>
                <a:lnTo>
                  <a:pt x="9062" y="18096"/>
                </a:lnTo>
                <a:cubicBezTo>
                  <a:pt x="8286" y="17833"/>
                  <a:pt x="7531" y="17048"/>
                  <a:pt x="6933" y="15853"/>
                </a:cubicBezTo>
                <a:cubicBezTo>
                  <a:pt x="6716" y="15415"/>
                  <a:pt x="6532" y="14965"/>
                  <a:pt x="6381" y="14503"/>
                </a:cubicBezTo>
                <a:close/>
                <a:moveTo>
                  <a:pt x="12933" y="14497"/>
                </a:moveTo>
                <a:cubicBezTo>
                  <a:pt x="12740" y="15083"/>
                  <a:pt x="12486" y="15650"/>
                  <a:pt x="12184" y="16188"/>
                </a:cubicBezTo>
                <a:cubicBezTo>
                  <a:pt x="11595" y="17211"/>
                  <a:pt x="10904" y="17869"/>
                  <a:pt x="10194" y="18099"/>
                </a:cubicBezTo>
                <a:lnTo>
                  <a:pt x="10194" y="15831"/>
                </a:lnTo>
                <a:cubicBezTo>
                  <a:pt x="10702" y="15650"/>
                  <a:pt x="11094" y="15240"/>
                  <a:pt x="11251" y="14726"/>
                </a:cubicBezTo>
                <a:cubicBezTo>
                  <a:pt x="11828" y="14675"/>
                  <a:pt x="12390" y="14596"/>
                  <a:pt x="12933" y="14497"/>
                </a:cubicBezTo>
                <a:close/>
                <a:moveTo>
                  <a:pt x="9630" y="0"/>
                </a:moveTo>
                <a:cubicBezTo>
                  <a:pt x="7063" y="0"/>
                  <a:pt x="4645" y="1015"/>
                  <a:pt x="2821" y="2860"/>
                </a:cubicBezTo>
                <a:cubicBezTo>
                  <a:pt x="1012" y="4678"/>
                  <a:pt x="1" y="7138"/>
                  <a:pt x="4" y="9702"/>
                </a:cubicBezTo>
                <a:cubicBezTo>
                  <a:pt x="4" y="15016"/>
                  <a:pt x="4313" y="19325"/>
                  <a:pt x="9630" y="19325"/>
                </a:cubicBezTo>
                <a:cubicBezTo>
                  <a:pt x="9634" y="19325"/>
                  <a:pt x="9637" y="19325"/>
                  <a:pt x="9641" y="19325"/>
                </a:cubicBezTo>
                <a:cubicBezTo>
                  <a:pt x="12198" y="19325"/>
                  <a:pt x="14654" y="18314"/>
                  <a:pt x="16469" y="16508"/>
                </a:cubicBezTo>
                <a:cubicBezTo>
                  <a:pt x="18314" y="14687"/>
                  <a:pt x="19328" y="12268"/>
                  <a:pt x="19328" y="9702"/>
                </a:cubicBezTo>
                <a:cubicBezTo>
                  <a:pt x="19328" y="8407"/>
                  <a:pt x="19069" y="7129"/>
                  <a:pt x="18558" y="5940"/>
                </a:cubicBezTo>
                <a:cubicBezTo>
                  <a:pt x="18066" y="4789"/>
                  <a:pt x="17360" y="3741"/>
                  <a:pt x="16472" y="2857"/>
                </a:cubicBezTo>
                <a:cubicBezTo>
                  <a:pt x="15587" y="1969"/>
                  <a:pt x="14539" y="1263"/>
                  <a:pt x="13389" y="770"/>
                </a:cubicBezTo>
                <a:cubicBezTo>
                  <a:pt x="12199" y="260"/>
                  <a:pt x="10922" y="0"/>
                  <a:pt x="9630" y="0"/>
                </a:cubicBezTo>
                <a:close/>
              </a:path>
            </a:pathLst>
          </a:custGeom>
          <a:solidFill>
            <a:srgbClr val="869FB2"/>
          </a:solidFill>
          <a:ln>
            <a:noFill/>
          </a:ln>
        </p:spPr>
        <p:txBody>
          <a:bodyPr anchorCtr="0" anchor="ctr" bIns="120650" lIns="120650" spcFirstLastPara="1" rIns="120650" wrap="square" tIns="120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47">
              <a:solidFill>
                <a:srgbClr val="435D74"/>
              </a:solidFill>
            </a:endParaRPr>
          </a:p>
        </p:txBody>
      </p:sp>
      <p:sp>
        <p:nvSpPr>
          <p:cNvPr id="349" name="Google Shape;349;p35"/>
          <p:cNvSpPr/>
          <p:nvPr/>
        </p:nvSpPr>
        <p:spPr>
          <a:xfrm rot="-5400000">
            <a:off x="5572330" y="3457776"/>
            <a:ext cx="879000" cy="825000"/>
          </a:xfrm>
          <a:prstGeom prst="bentArrow">
            <a:avLst>
              <a:gd fmla="val 27767" name="adj1"/>
              <a:gd fmla="val 24970" name="adj2"/>
              <a:gd fmla="val 25000" name="adj3"/>
              <a:gd fmla="val 42181" name="adj4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81725" lIns="81725" spcFirstLastPara="1" rIns="81725" wrap="square" tIns="81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1"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6"/>
          <p:cNvSpPr txBox="1"/>
          <p:nvPr/>
        </p:nvSpPr>
        <p:spPr>
          <a:xfrm>
            <a:off x="720000" y="949174"/>
            <a:ext cx="7704000" cy="28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C62F35"/>
                </a:solidFill>
                <a:latin typeface="Public Sans"/>
                <a:ea typeface="Public Sans"/>
                <a:cs typeface="Public Sans"/>
                <a:sym typeface="Public Sans"/>
              </a:rPr>
              <a:t>Bias Within Health Datasets (Training)</a:t>
            </a:r>
            <a:endParaRPr>
              <a:solidFill>
                <a:srgbClr val="C62F35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C62F35"/>
              </a:buClr>
              <a:buSzPts val="1400"/>
              <a:buFont typeface="Public Sans"/>
              <a:buChar char="-"/>
            </a:pPr>
            <a:r>
              <a:rPr lang="en-GB">
                <a:solidFill>
                  <a:srgbClr val="C62F35"/>
                </a:solidFill>
                <a:latin typeface="Public Sans"/>
                <a:ea typeface="Public Sans"/>
                <a:cs typeface="Public Sans"/>
                <a:sym typeface="Public Sans"/>
              </a:rPr>
              <a:t>Health algorithm predicted health-care costs (instead of illness) as a proxy, causing the algorithm to underestimate Black patients’ health needs because Black patients generated lower costs for the same level of illness.</a:t>
            </a:r>
            <a:endParaRPr>
              <a:solidFill>
                <a:srgbClr val="C62F35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C62F35"/>
              </a:buClr>
              <a:buSzPts val="1400"/>
              <a:buFont typeface="Public Sans"/>
              <a:buChar char="-"/>
            </a:pPr>
            <a:r>
              <a:rPr lang="en-GB">
                <a:solidFill>
                  <a:srgbClr val="C62F35"/>
                </a:solidFill>
                <a:latin typeface="Public Sans"/>
                <a:ea typeface="Public Sans"/>
                <a:cs typeface="Public Sans"/>
                <a:sym typeface="Public Sans"/>
              </a:rPr>
              <a:t>The study found that if the bias were removed, the percentage of Black patients flagged for extra care could increase from ~17.7% to ~46.5%.(Obermeyer et al., Science, 2019)</a:t>
            </a:r>
            <a:endParaRPr>
              <a:solidFill>
                <a:srgbClr val="C62F35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C62F35"/>
                </a:solidFill>
                <a:latin typeface="Public Sans"/>
                <a:ea typeface="Public Sans"/>
                <a:cs typeface="Public Sans"/>
                <a:sym typeface="Public Sans"/>
              </a:rPr>
              <a:t>How Bias Seeps into Facial Recognition Algorithms (Preprocessing)</a:t>
            </a:r>
            <a:endParaRPr>
              <a:solidFill>
                <a:srgbClr val="C62F35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C62F35"/>
              </a:buClr>
              <a:buSzPts val="1400"/>
              <a:buFont typeface="Public Sans"/>
              <a:buChar char="-"/>
            </a:pPr>
            <a:r>
              <a:rPr lang="en-GB">
                <a:solidFill>
                  <a:srgbClr val="C62F35"/>
                </a:solidFill>
                <a:latin typeface="Public Sans"/>
                <a:ea typeface="Public Sans"/>
                <a:cs typeface="Public Sans"/>
                <a:sym typeface="Public Sans"/>
              </a:rPr>
              <a:t>Police-grade facial recognition misidentifies Black individuals at rates 10–100× higher than white individuals. (NIST Face Recognition Vendor Test Report 2019)</a:t>
            </a:r>
            <a:endParaRPr>
              <a:solidFill>
                <a:srgbClr val="C62F35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C62F35"/>
                </a:solidFill>
                <a:latin typeface="Public Sans"/>
                <a:ea typeface="Public Sans"/>
                <a:cs typeface="Public Sans"/>
                <a:sym typeface="Public Sans"/>
              </a:rPr>
              <a:t>The Collection of Data for AI Media</a:t>
            </a:r>
            <a:endParaRPr>
              <a:solidFill>
                <a:srgbClr val="C62F35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C62F35"/>
              </a:buClr>
              <a:buSzPts val="1400"/>
              <a:buFont typeface="Public Sans"/>
              <a:buChar char="-"/>
            </a:pPr>
            <a:r>
              <a:rPr lang="en-GB">
                <a:solidFill>
                  <a:srgbClr val="C62F35"/>
                </a:solidFill>
                <a:latin typeface="Public Sans"/>
                <a:ea typeface="Public Sans"/>
                <a:cs typeface="Public Sans"/>
                <a:sym typeface="Public Sans"/>
              </a:rPr>
              <a:t>AI art models are trained on 5.8B web-scraped images—including copyrighted art—collected without consent, embedding cultural bias and enabling style replication. (Schuhmann et al., LAION-5B 2022)</a:t>
            </a:r>
            <a:endParaRPr>
              <a:solidFill>
                <a:srgbClr val="C62F35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55" name="Google Shape;355;p36"/>
          <p:cNvSpPr txBox="1"/>
          <p:nvPr/>
        </p:nvSpPr>
        <p:spPr>
          <a:xfrm>
            <a:off x="720000" y="448100"/>
            <a:ext cx="77040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200">
                <a:solidFill>
                  <a:srgbClr val="C62F35"/>
                </a:solidFill>
                <a:latin typeface="Bodoni Moda"/>
                <a:ea typeface="Bodoni Moda"/>
                <a:cs typeface="Bodoni Moda"/>
                <a:sym typeface="Bodoni Moda"/>
              </a:rPr>
              <a:t>Case Studies (Collabs)</a:t>
            </a:r>
            <a:endParaRPr b="1" sz="3200">
              <a:solidFill>
                <a:srgbClr val="C62F35"/>
              </a:solidFill>
              <a:latin typeface="Bodoni Moda"/>
              <a:ea typeface="Bodoni Moda"/>
              <a:cs typeface="Bodoni Moda"/>
              <a:sym typeface="Bodoni Moda"/>
            </a:endParaRPr>
          </a:p>
        </p:txBody>
      </p:sp>
      <p:cxnSp>
        <p:nvCxnSpPr>
          <p:cNvPr id="356" name="Google Shape;356;p36"/>
          <p:cNvCxnSpPr/>
          <p:nvPr/>
        </p:nvCxnSpPr>
        <p:spPr>
          <a:xfrm>
            <a:off x="5590800" y="791475"/>
            <a:ext cx="3292200" cy="18300"/>
          </a:xfrm>
          <a:prstGeom prst="straightConnector1">
            <a:avLst/>
          </a:prstGeom>
          <a:noFill/>
          <a:ln cap="flat" cmpd="sng" w="9525">
            <a:solidFill>
              <a:srgbClr val="C62F35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7"/>
          <p:cNvSpPr txBox="1"/>
          <p:nvPr/>
        </p:nvSpPr>
        <p:spPr>
          <a:xfrm>
            <a:off x="720000" y="1034237"/>
            <a:ext cx="7704000" cy="36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C62F35"/>
                </a:solidFill>
                <a:latin typeface="Public Sans"/>
                <a:ea typeface="Public Sans"/>
                <a:cs typeface="Public Sans"/>
                <a:sym typeface="Public Sans"/>
              </a:rPr>
              <a:t>Our Goal: Educate policymakers so they can create guardrails for responsible AI development.</a:t>
            </a:r>
            <a:endParaRPr>
              <a:solidFill>
                <a:srgbClr val="C62F35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rgbClr val="C62F35"/>
              </a:buClr>
              <a:buSzPts val="1400"/>
              <a:buFont typeface="Public Sans"/>
              <a:buChar char="●"/>
            </a:pPr>
            <a:r>
              <a:rPr lang="en-GB">
                <a:solidFill>
                  <a:srgbClr val="C62F35"/>
                </a:solidFill>
                <a:latin typeface="Public Sans"/>
                <a:ea typeface="Public Sans"/>
                <a:cs typeface="Public Sans"/>
                <a:sym typeface="Public Sans"/>
              </a:rPr>
              <a:t>Mandatory Data Documentation</a:t>
            </a:r>
            <a:endParaRPr>
              <a:solidFill>
                <a:srgbClr val="C62F35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62F35"/>
              </a:buClr>
              <a:buSzPts val="1400"/>
              <a:buFont typeface="Public Sans"/>
              <a:buChar char="○"/>
            </a:pPr>
            <a:r>
              <a:rPr lang="en-GB">
                <a:solidFill>
                  <a:srgbClr val="C62F35"/>
                </a:solidFill>
                <a:latin typeface="Public Sans"/>
                <a:ea typeface="Public Sans"/>
                <a:cs typeface="Public Sans"/>
                <a:sym typeface="Public Sans"/>
              </a:rPr>
              <a:t>Require documentation that explains how data was collected, labeled, cleaned, and tested</a:t>
            </a:r>
            <a:endParaRPr>
              <a:solidFill>
                <a:srgbClr val="C62F35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C62F35"/>
              </a:buClr>
              <a:buSzPts val="1400"/>
              <a:buFont typeface="Public Sans"/>
              <a:buChar char="●"/>
            </a:pPr>
            <a:r>
              <a:rPr lang="en-GB">
                <a:solidFill>
                  <a:srgbClr val="C62F35"/>
                </a:solidFill>
                <a:latin typeface="Public Sans"/>
                <a:ea typeface="Public Sans"/>
                <a:cs typeface="Public Sans"/>
                <a:sym typeface="Public Sans"/>
              </a:rPr>
              <a:t>Bias Reviews Before Release</a:t>
            </a:r>
            <a:endParaRPr>
              <a:solidFill>
                <a:srgbClr val="C62F35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62F35"/>
              </a:buClr>
              <a:buSzPts val="1400"/>
              <a:buFont typeface="Public Sans"/>
              <a:buChar char="○"/>
            </a:pPr>
            <a:r>
              <a:rPr lang="en-GB">
                <a:solidFill>
                  <a:srgbClr val="C62F35"/>
                </a:solidFill>
                <a:latin typeface="Public Sans"/>
                <a:ea typeface="Public Sans"/>
                <a:cs typeface="Public Sans"/>
                <a:sym typeface="Public Sans"/>
              </a:rPr>
              <a:t>Have independent groups check datasets and models for fairness issues</a:t>
            </a:r>
            <a:endParaRPr>
              <a:solidFill>
                <a:srgbClr val="C62F35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C62F35"/>
              </a:buClr>
              <a:buSzPts val="1400"/>
              <a:buFont typeface="Public Sans"/>
              <a:buChar char="●"/>
            </a:pPr>
            <a:r>
              <a:rPr lang="en-GB">
                <a:solidFill>
                  <a:srgbClr val="C62F35"/>
                </a:solidFill>
                <a:latin typeface="Public Sans"/>
                <a:ea typeface="Public Sans"/>
                <a:cs typeface="Public Sans"/>
                <a:sym typeface="Public Sans"/>
              </a:rPr>
              <a:t>Funding for Diverse Data Collection</a:t>
            </a:r>
            <a:endParaRPr>
              <a:solidFill>
                <a:srgbClr val="C62F35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62F35"/>
              </a:buClr>
              <a:buSzPts val="1400"/>
              <a:buFont typeface="Public Sans"/>
              <a:buChar char="○"/>
            </a:pPr>
            <a:r>
              <a:rPr lang="en-GB">
                <a:solidFill>
                  <a:srgbClr val="C62F35"/>
                </a:solidFill>
                <a:latin typeface="Public Sans"/>
                <a:ea typeface="Public Sans"/>
                <a:cs typeface="Public Sans"/>
                <a:sym typeface="Public Sans"/>
              </a:rPr>
              <a:t>Provide funding or incentives to build more diverse and representative datasets</a:t>
            </a:r>
            <a:endParaRPr>
              <a:solidFill>
                <a:srgbClr val="C62F35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C62F35"/>
              </a:buClr>
              <a:buSzPts val="1400"/>
              <a:buFont typeface="Public Sans"/>
              <a:buChar char="●"/>
            </a:pPr>
            <a:r>
              <a:rPr lang="en-GB">
                <a:solidFill>
                  <a:srgbClr val="C62F35"/>
                </a:solidFill>
                <a:latin typeface="Public Sans"/>
                <a:ea typeface="Public Sans"/>
                <a:cs typeface="Public Sans"/>
                <a:sym typeface="Public Sans"/>
              </a:rPr>
              <a:t>Human Oversight Throughout Development</a:t>
            </a:r>
            <a:endParaRPr>
              <a:solidFill>
                <a:srgbClr val="C62F35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62F35"/>
              </a:buClr>
              <a:buSzPts val="1400"/>
              <a:buFont typeface="Public Sans"/>
              <a:buChar char="○"/>
            </a:pPr>
            <a:r>
              <a:rPr lang="en-GB">
                <a:solidFill>
                  <a:srgbClr val="C62F35"/>
                </a:solidFill>
                <a:latin typeface="Public Sans"/>
                <a:ea typeface="Public Sans"/>
                <a:cs typeface="Public Sans"/>
                <a:sym typeface="Public Sans"/>
              </a:rPr>
              <a:t>Use trained reviewers to regularly monitor model behavior and address problems early.</a:t>
            </a:r>
            <a:endParaRPr>
              <a:solidFill>
                <a:srgbClr val="C62F35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C62F35"/>
              </a:buClr>
              <a:buSzPts val="1400"/>
              <a:buFont typeface="Public Sans"/>
              <a:buChar char="●"/>
            </a:pPr>
            <a:r>
              <a:rPr lang="en-GB">
                <a:solidFill>
                  <a:srgbClr val="C62F35"/>
                </a:solidFill>
                <a:latin typeface="Public Sans"/>
                <a:ea typeface="Public Sans"/>
                <a:cs typeface="Public Sans"/>
                <a:sym typeface="Public Sans"/>
              </a:rPr>
              <a:t>Transparency Requirements</a:t>
            </a:r>
            <a:endParaRPr>
              <a:solidFill>
                <a:srgbClr val="C62F35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62F35"/>
              </a:buClr>
              <a:buSzPts val="1400"/>
              <a:buFont typeface="Public Sans"/>
              <a:buChar char="○"/>
            </a:pPr>
            <a:r>
              <a:rPr lang="en-GB">
                <a:solidFill>
                  <a:srgbClr val="C62F35"/>
                </a:solidFill>
                <a:latin typeface="Public Sans"/>
                <a:ea typeface="Public Sans"/>
                <a:cs typeface="Public Sans"/>
                <a:sym typeface="Public Sans"/>
              </a:rPr>
              <a:t>Companies must disclose data sources and potential biases</a:t>
            </a:r>
            <a:endParaRPr>
              <a:solidFill>
                <a:srgbClr val="C62F35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62" name="Google Shape;362;p37"/>
          <p:cNvSpPr txBox="1"/>
          <p:nvPr/>
        </p:nvSpPr>
        <p:spPr>
          <a:xfrm>
            <a:off x="720000" y="448100"/>
            <a:ext cx="77040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200">
                <a:solidFill>
                  <a:srgbClr val="C62F35"/>
                </a:solidFill>
                <a:latin typeface="Bodoni Moda"/>
                <a:ea typeface="Bodoni Moda"/>
                <a:cs typeface="Bodoni Moda"/>
                <a:sym typeface="Bodoni Moda"/>
              </a:rPr>
              <a:t>Educating Policymakers</a:t>
            </a:r>
            <a:endParaRPr b="1" sz="3200">
              <a:solidFill>
                <a:srgbClr val="C62F35"/>
              </a:solidFill>
              <a:latin typeface="Bodoni Moda"/>
              <a:ea typeface="Bodoni Moda"/>
              <a:cs typeface="Bodoni Moda"/>
              <a:sym typeface="Bodoni Moda"/>
            </a:endParaRPr>
          </a:p>
        </p:txBody>
      </p:sp>
      <p:cxnSp>
        <p:nvCxnSpPr>
          <p:cNvPr id="363" name="Google Shape;363;p37"/>
          <p:cNvCxnSpPr/>
          <p:nvPr/>
        </p:nvCxnSpPr>
        <p:spPr>
          <a:xfrm flipH="1" rot="10800000">
            <a:off x="5961275" y="809850"/>
            <a:ext cx="2921700" cy="15300"/>
          </a:xfrm>
          <a:prstGeom prst="straightConnector1">
            <a:avLst/>
          </a:prstGeom>
          <a:noFill/>
          <a:ln cap="flat" cmpd="sng" w="9525">
            <a:solidFill>
              <a:srgbClr val="C62F35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8"/>
          <p:cNvSpPr txBox="1"/>
          <p:nvPr/>
        </p:nvSpPr>
        <p:spPr>
          <a:xfrm>
            <a:off x="720000" y="1034229"/>
            <a:ext cx="7704000" cy="32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C62F35"/>
              </a:buClr>
              <a:buSzPts val="1300"/>
              <a:buFont typeface="Public Sans"/>
              <a:buChar char="●"/>
            </a:pPr>
            <a:r>
              <a:rPr lang="en-GB" sz="1300" u="sng">
                <a:solidFill>
                  <a:srgbClr val="C62F35"/>
                </a:solidFill>
                <a:latin typeface="Public Sans"/>
                <a:ea typeface="Public Sans"/>
                <a:cs typeface="Public Sans"/>
                <a:sym typeface="Public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https://humansintheloop.org/how-to-build-your-human-in-the-loop-pipeline-a-step-by-step-guide/</a:t>
            </a:r>
            <a:r>
              <a:rPr lang="en-GB" sz="1300">
                <a:solidFill>
                  <a:srgbClr val="C62F35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endParaRPr sz="1300">
              <a:solidFill>
                <a:srgbClr val="C62F35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C62F35"/>
              </a:buClr>
              <a:buSzPts val="1300"/>
              <a:buFont typeface="Public Sans"/>
              <a:buChar char="●"/>
            </a:pPr>
            <a:r>
              <a:rPr lang="en-GB" sz="1300">
                <a:solidFill>
                  <a:srgbClr val="C62F35"/>
                </a:solidFill>
                <a:latin typeface="Public Sans"/>
                <a:ea typeface="Public Sans"/>
                <a:cs typeface="Public Sans"/>
                <a:sym typeface="Public Sans"/>
              </a:rPr>
              <a:t>IBM Think. What Is Model Training? IBM Think, </a:t>
            </a:r>
            <a:r>
              <a:rPr lang="en-GB" sz="1300" u="sng">
                <a:solidFill>
                  <a:srgbClr val="C62F35"/>
                </a:solidFill>
                <a:latin typeface="Public Sans"/>
                <a:ea typeface="Public Sans"/>
                <a:cs typeface="Public Sans"/>
                <a:sym typeface="Public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https://www.ibm.com/think/topics/model-training/</a:t>
            </a:r>
            <a:r>
              <a:rPr lang="en-GB" sz="1300">
                <a:solidFill>
                  <a:srgbClr val="C62F35"/>
                </a:solidFill>
                <a:latin typeface="Public Sans"/>
                <a:ea typeface="Public Sans"/>
                <a:cs typeface="Public Sans"/>
                <a:sym typeface="Public Sans"/>
              </a:rPr>
              <a:t> (Accessed Nov 8, 2025).</a:t>
            </a:r>
            <a:endParaRPr sz="1300">
              <a:solidFill>
                <a:srgbClr val="C62F35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C62F35"/>
              </a:buClr>
              <a:buSzPts val="1300"/>
              <a:buFont typeface="Public Sans"/>
              <a:buChar char="●"/>
            </a:pPr>
            <a:r>
              <a:rPr lang="en-GB" sz="1300">
                <a:solidFill>
                  <a:srgbClr val="C62F35"/>
                </a:solidFill>
                <a:latin typeface="Public Sans"/>
                <a:ea typeface="Public Sans"/>
                <a:cs typeface="Public Sans"/>
                <a:sym typeface="Public Sans"/>
              </a:rPr>
              <a:t>Lamarr Institute. AI Training Data Bias: Why It Matters and How to Reduce It. Lamarr Institute Blog, </a:t>
            </a:r>
            <a:r>
              <a:rPr lang="en-GB" sz="1300" u="sng">
                <a:solidFill>
                  <a:srgbClr val="C62F35"/>
                </a:solidFill>
                <a:latin typeface="Public Sans"/>
                <a:ea typeface="Public Sans"/>
                <a:cs typeface="Public Sans"/>
                <a:sym typeface="Public Sa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https://lamarr-institute.org/blog/ai-training-data-bias/</a:t>
            </a:r>
            <a:r>
              <a:rPr lang="en-GB" sz="1300">
                <a:solidFill>
                  <a:srgbClr val="C62F35"/>
                </a:solidFill>
                <a:latin typeface="Public Sans"/>
                <a:ea typeface="Public Sans"/>
                <a:cs typeface="Public Sans"/>
                <a:sym typeface="Public Sans"/>
              </a:rPr>
              <a:t> (Accessed Nov 8, 2025).</a:t>
            </a:r>
            <a:endParaRPr sz="1300">
              <a:solidFill>
                <a:srgbClr val="C62F35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C62F35"/>
              </a:buClr>
              <a:buSzPts val="1300"/>
              <a:buFont typeface="Public Sans"/>
              <a:buChar char="●"/>
            </a:pPr>
            <a:r>
              <a:rPr lang="en-GB" sz="1300">
                <a:solidFill>
                  <a:srgbClr val="C62F35"/>
                </a:solidFill>
                <a:latin typeface="Public Sans"/>
                <a:ea typeface="Public Sans"/>
                <a:cs typeface="Public Sans"/>
                <a:sym typeface="Public Sans"/>
              </a:rPr>
              <a:t>Belcic, I., &amp; Stryker, C. (n.d.). What is a machine learning pipeline? IBM Think. Retrieved November 10, 2025, from </a:t>
            </a:r>
            <a:r>
              <a:rPr lang="en-GB" sz="1300" u="sng">
                <a:solidFill>
                  <a:srgbClr val="C62F35"/>
                </a:solidFill>
                <a:latin typeface="Public Sans"/>
                <a:ea typeface="Public Sans"/>
                <a:cs typeface="Public Sans"/>
                <a:sym typeface="Public Sans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https://www.ibm.com/think/topics/machine-learning-pipeline/</a:t>
            </a:r>
            <a:r>
              <a:rPr lang="en-GB" sz="1300">
                <a:solidFill>
                  <a:srgbClr val="C62F35"/>
                </a:solidFill>
                <a:latin typeface="Public Sans"/>
                <a:ea typeface="Public Sans"/>
                <a:cs typeface="Public Sans"/>
                <a:sym typeface="Public Sans"/>
              </a:rPr>
              <a:t> (Accessed Nov 8, 2025).</a:t>
            </a:r>
            <a:endParaRPr sz="1300">
              <a:solidFill>
                <a:srgbClr val="C62F35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C62F35"/>
              </a:buClr>
              <a:buSzPts val="1300"/>
              <a:buFont typeface="Public Sans"/>
              <a:buChar char="●"/>
            </a:pPr>
            <a:r>
              <a:rPr lang="en-GB" sz="1300">
                <a:solidFill>
                  <a:srgbClr val="C62F35"/>
                </a:solidFill>
                <a:latin typeface="Public Sans"/>
                <a:ea typeface="Public Sans"/>
                <a:cs typeface="Public Sans"/>
                <a:sym typeface="Public Sans"/>
              </a:rPr>
              <a:t>Dissecting racial bias in an algorithm used to manage the health of populations (Obermeyer et al., Science, 2019) </a:t>
            </a:r>
            <a:r>
              <a:rPr lang="en-GB" sz="1300" u="sng">
                <a:solidFill>
                  <a:srgbClr val="C62F35"/>
                </a:solidFill>
                <a:latin typeface="Public Sans"/>
                <a:ea typeface="Public Sans"/>
                <a:cs typeface="Public Sans"/>
                <a:sym typeface="Public Sans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https://www.science.org/doi/10.1126/science.aax2342</a:t>
            </a:r>
            <a:endParaRPr sz="1300">
              <a:solidFill>
                <a:srgbClr val="C62F35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C62F35"/>
              </a:buClr>
              <a:buSzPts val="1300"/>
              <a:buFont typeface="Public Sans"/>
              <a:buChar char="●"/>
            </a:pPr>
            <a:r>
              <a:rPr lang="en-GB" sz="1300">
                <a:solidFill>
                  <a:srgbClr val="C62F35"/>
                </a:solidFill>
                <a:latin typeface="Public Sans"/>
                <a:ea typeface="Public Sans"/>
                <a:cs typeface="Public Sans"/>
                <a:sym typeface="Public Sans"/>
              </a:rPr>
              <a:t>Grother, P. , Ngan, M. and Hanaoka, K. (2019), Face Recognition Vendor Test Part 3: Demographic Effects, NIST Interagency/Internal Report (NISTIR), National Institute of Standards and Technology, Gaithersburg, MD, [online], </a:t>
            </a:r>
            <a:r>
              <a:rPr lang="en-GB" sz="1300" u="sng">
                <a:solidFill>
                  <a:srgbClr val="C62F35"/>
                </a:solidFill>
                <a:latin typeface="Public Sans"/>
                <a:ea typeface="Public Sans"/>
                <a:cs typeface="Public Sans"/>
                <a:sym typeface="Public Sans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https://doi.org/10.6028/NIST.IR.8280</a:t>
            </a:r>
            <a:r>
              <a:rPr lang="en-GB" sz="1300">
                <a:solidFill>
                  <a:srgbClr val="C62F35"/>
                </a:solidFill>
                <a:latin typeface="Public Sans"/>
                <a:ea typeface="Public Sans"/>
                <a:cs typeface="Public Sans"/>
                <a:sym typeface="Public Sans"/>
              </a:rPr>
              <a:t> (Accessed November 14, 2025)</a:t>
            </a:r>
            <a:endParaRPr sz="1300">
              <a:solidFill>
                <a:srgbClr val="C62F35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C62F35"/>
              </a:buClr>
              <a:buSzPts val="1300"/>
              <a:buFont typeface="Public Sans"/>
              <a:buChar char="●"/>
            </a:pPr>
            <a:r>
              <a:rPr lang="en-GB">
                <a:solidFill>
                  <a:srgbClr val="C62F35"/>
                </a:solidFill>
                <a:latin typeface="Public Sans"/>
                <a:ea typeface="Public Sans"/>
                <a:cs typeface="Public Sans"/>
                <a:sym typeface="Public Sans"/>
              </a:rPr>
              <a:t>Latent Bottlenecked Attentive Neural Processes (Schuhmann et al., LAION-5B 2022) </a:t>
            </a:r>
            <a:r>
              <a:rPr lang="en-GB" sz="1300" u="sng">
                <a:solidFill>
                  <a:srgbClr val="C62F35"/>
                </a:solidFill>
                <a:latin typeface="Public Sans"/>
                <a:ea typeface="Public Sans"/>
                <a:cs typeface="Public Sans"/>
                <a:sym typeface="Public Sans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https://arxiv.org/abs/2211.08458</a:t>
            </a:r>
            <a:endParaRPr sz="1300">
              <a:solidFill>
                <a:srgbClr val="C62F35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69" name="Google Shape;369;p38"/>
          <p:cNvSpPr txBox="1"/>
          <p:nvPr/>
        </p:nvSpPr>
        <p:spPr>
          <a:xfrm>
            <a:off x="720000" y="448100"/>
            <a:ext cx="77040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200">
                <a:solidFill>
                  <a:srgbClr val="C62F35"/>
                </a:solidFill>
                <a:latin typeface="Bodoni Moda"/>
                <a:ea typeface="Bodoni Moda"/>
                <a:cs typeface="Bodoni Moda"/>
                <a:sym typeface="Bodoni Moda"/>
              </a:rPr>
              <a:t>Sources</a:t>
            </a:r>
            <a:endParaRPr b="1" sz="3200">
              <a:solidFill>
                <a:srgbClr val="C62F35"/>
              </a:solidFill>
              <a:latin typeface="Bodoni Moda"/>
              <a:ea typeface="Bodoni Moda"/>
              <a:cs typeface="Bodoni Moda"/>
              <a:sym typeface="Bodoni Mod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inimalist Duotone Pastel Slides Marketing Plan by Slidesgo">
  <a:themeElements>
    <a:clrScheme name="Simple Light">
      <a:dk1>
        <a:srgbClr val="C62F35"/>
      </a:dk1>
      <a:lt1>
        <a:srgbClr val="F6969D"/>
      </a:lt1>
      <a:dk2>
        <a:srgbClr val="FFC6CA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C62F3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